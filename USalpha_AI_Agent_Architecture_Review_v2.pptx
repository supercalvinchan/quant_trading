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64592" cy="2194560"/>
          </a:xfrm>
          <a:prstGeom prst="rect">
            <a:avLst/>
          </a:prstGeom>
          <a:solidFill>
            <a:srgbClr val="39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87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3F7FA"/>
                </a:solidFill>
              </a:rPr>
              <a:t>USalpha 架构复盘与
AI Agent 量化平台路线图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743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1D3F8"/>
                </a:solidFill>
              </a:rPr>
              <a:t>现状评估 | 参考平台对比 | 功能缺口 | 模块化设计建议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3832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CCC"/>
                </a:solidFill>
              </a:rPr>
              <a:t>对象：USalpha 当前版本（v1）
参考仓库：QuantaAlpha / alpha_mining / TradingAgents / akquant / a-stock-data / qlib / Kronos / vnpy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对当前 USalpha 的一句话判断与优先级建议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82880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60934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研究原型成熟度</a:t>
            </a:r>
          </a:p>
          <a:p>
            <a:r>
              <a:rPr sz="2200" b="1">
                <a:solidFill>
                  <a:srgbClr val="39B5FF"/>
                </a:solidFill>
              </a:rPr>
              <a:t>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234440"/>
            <a:ext cx="182880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70048" y="1307592"/>
            <a:ext cx="160934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模块化程度</a:t>
            </a:r>
          </a:p>
          <a:p>
            <a:r>
              <a:rPr sz="2200" b="1">
                <a:solidFill>
                  <a:srgbClr val="FFC457"/>
                </a:solidFill>
              </a:rPr>
              <a:t>B-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234440"/>
            <a:ext cx="182880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307592"/>
            <a:ext cx="160934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Agent 就绪度</a:t>
            </a:r>
          </a:p>
          <a:p>
            <a:r>
              <a:rPr sz="2200" b="1">
                <a:solidFill>
                  <a:srgbClr val="FF7878"/>
                </a:solidFill>
              </a:rPr>
              <a:t>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234440"/>
            <a:ext cx="201168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1307592"/>
            <a:ext cx="179222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实盘可用度</a:t>
            </a:r>
          </a:p>
          <a:p>
            <a:r>
              <a:rPr sz="2200" b="1">
                <a:solidFill>
                  <a:srgbClr val="FF7878"/>
                </a:solidFill>
              </a:rPr>
              <a:t>C-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5394960" cy="347472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45059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关键判断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5029200" cy="2926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USalpha 已经具备“数据→因子→模型→回测→可视化”的完整研究闭环。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它适合作为研究原型与产品雏形，但还不是成熟的平台型框架。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当前最强的是：自包含、迭代快、功能链路短、容易改。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当前最弱的是：数据层治理、回测引擎抽象、实验管理、Agent 编排与实盘桥接。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377440"/>
            <a:ext cx="5440680" cy="347472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45059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优先级建议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97480"/>
            <a:ext cx="5029200" cy="2926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短期：把 USalpha 从“能跑”变成“可持续研发”，先做数据层、缓存层、实验层治理。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中期：引入统一策略/回测抽象、模型注册、评估注册、Agent 调度接口。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长期：拆出 Agent Platform、Research Platform、Execution Platform 三层架构。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已完成工作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当前版本已经实现的功能面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881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040880"/>
                <a:gridCol w="2560320"/>
              </a:tblGrid>
              <a:tr h="6172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3F7FA"/>
                          </a:solidFill>
                        </a:rPr>
                        <a:t>模块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3F7FA"/>
                          </a:solidFill>
                        </a:rPr>
                        <a:t>已完成内容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3F7FA"/>
                          </a:solidFill>
                        </a:rPr>
                        <a:t>评价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数据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行情拉取、NASDAQ 列表缓存、A 股缓存、fallback 机制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可用，但治理较浅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因子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内置 526 因子解析与计算，表达式 evaluator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自包含是优点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模型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轻量截面收益预测基线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适合快速实验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回测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多空回测 + A 股页面化回测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功能闭环已形成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LLM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候选因子生成、打分、入库、结果留档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有明显产品雏形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可视化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股票查看、训练挖掘、回测页面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交互面已出现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工程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相对路径、统一入口、portable check、长任务稳定性修复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工程意识在增强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当前流程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目前的研究流程已经清晰，但层间边界还不够硬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691640" cy="1920240"/>
          </a:xfrm>
          <a:prstGeom prst="roundRect">
            <a:avLst/>
          </a:prstGeom>
          <a:solidFill>
            <a:srgbClr val="191F2D"/>
          </a:solidFill>
          <a:ln>
            <a:solidFill>
              <a:srgbClr val="39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993392"/>
            <a:ext cx="1472184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7FA"/>
                </a:solidFill>
              </a:rPr>
              <a:t>1 数据加载</a:t>
            </a:r>
          </a:p>
          <a:p>
            <a:r>
              <a:rPr sz="1100">
                <a:solidFill>
                  <a:srgbClr val="B0BCCC"/>
                </a:solidFill>
              </a:rPr>
              <a:t>US / CN 数据源
缓存 / fallback</a:t>
            </a:r>
          </a:p>
        </p:txBody>
      </p:sp>
      <p:sp>
        <p:nvSpPr>
          <p:cNvPr id="6" name="Chevron 5"/>
          <p:cNvSpPr/>
          <p:nvPr/>
        </p:nvSpPr>
        <p:spPr>
          <a:xfrm>
            <a:off x="2322576" y="2468880"/>
            <a:ext cx="146304" cy="292608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96312" y="1828800"/>
            <a:ext cx="1691640" cy="19202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993392"/>
            <a:ext cx="1472184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7FA"/>
                </a:solidFill>
              </a:rPr>
              <a:t>2 因子计算</a:t>
            </a:r>
          </a:p>
          <a:p>
            <a:r>
              <a:rPr sz="1100">
                <a:solidFill>
                  <a:srgbClr val="B0BCCC"/>
                </a:solidFill>
              </a:rPr>
              <a:t>526 因子
表达式求值</a:t>
            </a:r>
          </a:p>
        </p:txBody>
      </p:sp>
      <p:sp>
        <p:nvSpPr>
          <p:cNvPr id="9" name="Chevron 8"/>
          <p:cNvSpPr/>
          <p:nvPr/>
        </p:nvSpPr>
        <p:spPr>
          <a:xfrm>
            <a:off x="4224528" y="2468880"/>
            <a:ext cx="146304" cy="292608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98264" y="1828800"/>
            <a:ext cx="1691640" cy="19202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993392"/>
            <a:ext cx="1472184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7FA"/>
                </a:solidFill>
              </a:rPr>
              <a:t>3 模型训练</a:t>
            </a:r>
          </a:p>
          <a:p>
            <a:r>
              <a:rPr sz="1100">
                <a:solidFill>
                  <a:srgbClr val="B0BCCC"/>
                </a:solidFill>
              </a:rPr>
              <a:t>截面预测
轻量基线</a:t>
            </a:r>
          </a:p>
        </p:txBody>
      </p:sp>
      <p:sp>
        <p:nvSpPr>
          <p:cNvPr id="12" name="Chevron 11"/>
          <p:cNvSpPr/>
          <p:nvPr/>
        </p:nvSpPr>
        <p:spPr>
          <a:xfrm>
            <a:off x="6126480" y="2468880"/>
            <a:ext cx="146304" cy="292608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0216" y="1828800"/>
            <a:ext cx="1691640" cy="19202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993392"/>
            <a:ext cx="1472184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7FA"/>
                </a:solidFill>
              </a:rPr>
              <a:t>4 回测评估</a:t>
            </a:r>
          </a:p>
          <a:p>
            <a:r>
              <a:rPr sz="1100">
                <a:solidFill>
                  <a:srgbClr val="B0BCCC"/>
                </a:solidFill>
              </a:rPr>
              <a:t>Long-Short / A股页面
指标产物</a:t>
            </a:r>
          </a:p>
        </p:txBody>
      </p:sp>
      <p:sp>
        <p:nvSpPr>
          <p:cNvPr id="15" name="Chevron 14"/>
          <p:cNvSpPr/>
          <p:nvPr/>
        </p:nvSpPr>
        <p:spPr>
          <a:xfrm>
            <a:off x="8028432" y="2468880"/>
            <a:ext cx="146304" cy="292608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2168" y="1828800"/>
            <a:ext cx="1691640" cy="1920240"/>
          </a:xfrm>
          <a:prstGeom prst="roundRect">
            <a:avLst/>
          </a:prstGeom>
          <a:solidFill>
            <a:srgbClr val="191F2D"/>
          </a:solidFill>
          <a:ln>
            <a:solidFill>
              <a:srgbClr val="39B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993392"/>
            <a:ext cx="1472184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7FA"/>
                </a:solidFill>
              </a:rPr>
              <a:t>5 LLM 演进</a:t>
            </a:r>
          </a:p>
          <a:p>
            <a:r>
              <a:rPr sz="1100">
                <a:solidFill>
                  <a:srgbClr val="B0BCCC"/>
                </a:solidFill>
              </a:rPr>
              <a:t>候选生成
校验 / 打分 / 入库</a:t>
            </a:r>
          </a:p>
        </p:txBody>
      </p:sp>
      <p:sp>
        <p:nvSpPr>
          <p:cNvPr id="18" name="Chevron 17"/>
          <p:cNvSpPr/>
          <p:nvPr/>
        </p:nvSpPr>
        <p:spPr>
          <a:xfrm>
            <a:off x="9930384" y="2468880"/>
            <a:ext cx="146304" cy="292608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04120" y="1828800"/>
            <a:ext cx="1691640" cy="19202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13848" y="1993392"/>
            <a:ext cx="1472184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7FA"/>
                </a:solidFill>
              </a:rPr>
              <a:t>6 Dashboard</a:t>
            </a:r>
          </a:p>
          <a:p>
            <a:r>
              <a:rPr sz="1100">
                <a:solidFill>
                  <a:srgbClr val="B0BCCC"/>
                </a:solidFill>
              </a:rPr>
              <a:t>查看结果
参数操作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97680"/>
            <a:ext cx="10789920" cy="118872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37083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流程评价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572000"/>
            <a:ext cx="1033272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优点：主链路短，定位清楚，适合快速迭代。缺点：CN 回测、缓存、页面逻辑偏集中，研究流程与平台流程尚未彻底拆层。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模块化评价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核心模块已经分开，但平台级抽象还不够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657600"/>
                <a:gridCol w="1143000"/>
                <a:gridCol w="4754880"/>
              </a:tblGrid>
              <a:tr h="640080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维度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现状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评价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建议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数据层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US/CN 逻辑并存，采集/缓存/fallback 混在同层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中等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拆成 source / cache / catalog / quality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因子层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表达式与计算主干清楚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较好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补注册表、元数据、依赖关系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模型层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基线模型独立，但模型族很薄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中等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做 model registry 与训练接口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回测层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主流程回测与页面回测口径不统一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偏弱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统一 backtest engine / execution semantics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页面层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能力丰富，但单文件偏重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偏弱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拆 page / service / state / adapter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实验层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结果有 artifacts，但缺 experiment registry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偏弱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补 run metadata、comparison、repro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Agent 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只有 LLM factor round 雏形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较弱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拆 planner / proposer / evaluator / reviewer / operator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参考平台能力地图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这些仓库分别代表不同层：研究、Agent、数据、回测、执行、基础模型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749808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36192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LLM 因子研发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27632"/>
            <a:ext cx="832104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9B5FF"/>
                </a:solidFill>
              </a:defRPr>
            </a:pPr>
            <a:r>
              <a:t>QuantaAlpha / alpha_mining / Qlib + RD-Agent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95728"/>
            <a:ext cx="10698480" cy="749808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6888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研究与回测框架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60320"/>
            <a:ext cx="832104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57D69D"/>
                </a:solidFill>
              </a:defRPr>
            </a:pPr>
            <a:r>
              <a:t>AKQuant / Qlib / vnpy.alpha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28416"/>
            <a:ext cx="10698480" cy="749808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401568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行情与信息源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93008"/>
            <a:ext cx="832104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C457"/>
                </a:solidFill>
              </a:defRPr>
            </a:pPr>
            <a:r>
              <a:t>a-stock-data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61104"/>
            <a:ext cx="10698480" cy="749808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34256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时序基础模型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425696"/>
            <a:ext cx="832104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A68C8"/>
                </a:solidFill>
              </a:defRPr>
            </a:pPr>
            <a:r>
              <a:t>Kronos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93792"/>
            <a:ext cx="10698480" cy="749808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266944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交易执行平台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358384"/>
            <a:ext cx="8321040" cy="34747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8A65"/>
                </a:solidFill>
              </a:defRPr>
            </a:pPr>
            <a:r>
              <a:t>vnpy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263640"/>
            <a:ext cx="10698480" cy="384048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309360"/>
            <a:ext cx="10241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F3F7FA"/>
                </a:solidFill>
              </a:defRPr>
            </a:pPr>
            <a:r>
              <a:t>结论：USalpha 目前主要覆盖“研究原型 + 页面产品雏形”，但距离“Agent 平台”与“交易平台”仍有明显层级差距。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参考平台对比（一）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LLM 因子研发与工业级研究平台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1556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389120"/>
                <a:gridCol w="5303520"/>
              </a:tblGrid>
              <a:tr h="1303020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平台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核心能力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USalpha 尚缺内容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QuantaAlpha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LLM 自演化因子挖掘、trajectory 规划、Qlib 回测、实验复现、Web UI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多轮 Agent 规划、Qlib 级研究底座、系统化实验协议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alpha_mining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Qlib demo、LLM alpha refinement、pairwise ranking、简单前后端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更正式的平台结构、统一评估体系、排名学习扩展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Qlib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工业级数据层、工作流、模型库、策略/执行/分析、在线服务、RL、PIT 数据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强数据基础设施、workflow、model zoo、线上化与 nested execution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参考平台对比（二）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多智能体交易、回测执行、数据接入、基础模型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2928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434840"/>
                <a:gridCol w="5440680"/>
              </a:tblGrid>
              <a:tr h="86868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3F7FA"/>
                          </a:solidFill>
                        </a:rPr>
                        <a:t>平台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3F7FA"/>
                          </a:solidFill>
                        </a:rPr>
                        <a:t>核心能力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3F7FA"/>
                          </a:solidFill>
                        </a:rPr>
                        <a:t>USalpha 尚缺内容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TradingAgents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LangGraph 多智能体交易组织、分析师/研究员/交易员/风控/组合经理、checkpoint+memory、多模型供应商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角色化 Agent 编排、状态机、辩论机制、持久记忆、决策日志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AKQuant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Rust+Python 事件驱动回测、复杂订单、ML/WFO、流式回测、准实盘接口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统一事件引擎、执行语义、复杂订单、流式监控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成熟交易平台、丰富 gateway、算法交易、风险管理、数据记录、vnpy.alpha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真实 OMS/RMS、网关生态、生产部署能力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a-stock-data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A 股全栈数据 skill：行情、估值、研报、热点、北向、龙虎榜、公告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数据源广度、研究信息层、估值与题材信号层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Kronos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金融 K 线 foundation model、forecasting、batch predict、finetune pipeline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时序基础模型、预训练+微调路径、生成式市场表征能力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TradingAgents 值得借鉴什么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它提供的不是 alpha 库，而是多角色研究与决策组织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949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TradingAgents 已实现的任务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27632"/>
            <a:ext cx="49834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把一次股票判断拆成 analyst -&gt; researcher debate -&gt; trader -&gt; risk debate -&gt; portfolio manager 的链路。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用 LangGraph 维护节点状态、条件跳转、checkpoint resume 与长期 decision memory。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接入新闻、情绪、技术、基本面等多源信息，输出结构化交易决策。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支持多家 LLM 供应商与 CLI 工作流，强调可恢复、可复盘、可替换模型。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44068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35331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对 USalpha 的启发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627632"/>
            <a:ext cx="49834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USalpha 现在更像单研究员工作台，缺少“角色分工 + 争论 + 审核 + 最终批准”结构。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可以借鉴它的 state graph、structured output、checkpoint、memory log，而不是照搬其美股数据流。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在我们的目标里，TradingAgents 最适合作为 agent orchestration 参考，不是 research engine 替代品。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对于 A 股场景，最关键的迁移点是：多角色协作框架 + 可恢复执行 + 决策留痕。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如果目标是 AI Agent 量化平台，USalpha 还缺什么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缺的不是一个模型，而是一整套平台层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5661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990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缺口一：平台基础设施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31546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统一数据目录与元数据 catalog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PIT / corporate action / universe 管理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实验 registry / run lineage / 配置管理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统一策略、回测、评估接口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模型注册、因子注册、数据质量检查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5661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3990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缺口二：Agent 能力层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1645920"/>
            <a:ext cx="31546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研究目标拆解与任务规划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因子提出、检索、反思、去重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代码生成与实验执行调度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结果判读、失败归因、版本记忆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报告自动生成与人机协同接口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5661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3990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缺口三：交易与运营层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1645920"/>
            <a:ext cx="315468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统一执行引擎与订单抽象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风控、权限、审计、告警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paper/live bridge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多策略编排与资源调度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监控面板与运维工作流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建议的目标架构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把系统拆成三层：Research / Agent /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0561320" cy="640080"/>
          </a:xfrm>
          <a:prstGeom prst="roundRect">
            <a:avLst/>
          </a:prstGeom>
          <a:solidFill>
            <a:srgbClr val="39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444752"/>
            <a:ext cx="10058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3F7FA"/>
                </a:solidFill>
              </a:rPr>
              <a:t>Presentation</a:t>
            </a:r>
          </a:p>
          <a:p>
            <a:r>
              <a:rPr sz="1100">
                <a:solidFill>
                  <a:srgbClr val="F3F7FA"/>
                </a:solidFill>
              </a:rPr>
              <a:t>Dashboard / CLI / Report / Notebook /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21408"/>
            <a:ext cx="10561320" cy="914400"/>
          </a:xfrm>
          <a:prstGeom prst="round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100584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3F7FA"/>
                </a:solidFill>
              </a:rPr>
              <a:t>Agent Orchestration</a:t>
            </a:r>
          </a:p>
          <a:p>
            <a:r>
              <a:rPr sz="1100">
                <a:solidFill>
                  <a:srgbClr val="F3F7FA"/>
                </a:solidFill>
              </a:rPr>
              <a:t>Planner / Researcher / Factor Proposer / Evaluator / Reviewer /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45536"/>
            <a:ext cx="10561320" cy="9601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18688"/>
            <a:ext cx="1005840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3F7FA"/>
                </a:solidFill>
              </a:rPr>
              <a:t>Research Platform</a:t>
            </a:r>
          </a:p>
          <a:p>
            <a:r>
              <a:rPr sz="1100">
                <a:solidFill>
                  <a:srgbClr val="F3F7FA"/>
                </a:solidFill>
              </a:rPr>
              <a:t>Data Catalog / Feature Store / Model Registry / Experiment Tracker / Backtest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15384"/>
            <a:ext cx="10561320" cy="9144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288536"/>
            <a:ext cx="100584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3F7FA"/>
                </a:solidFill>
              </a:rPr>
              <a:t>Execution Platform</a:t>
            </a:r>
          </a:p>
          <a:p>
            <a:r>
              <a:rPr sz="1100">
                <a:solidFill>
                  <a:srgbClr val="F3F7FA"/>
                </a:solidFill>
              </a:rPr>
              <a:t>Portfolio / OMS / RMS / Broker Gateway / Monitoring / Alerting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239512"/>
            <a:ext cx="10561320" cy="731520"/>
          </a:xfrm>
          <a:prstGeom prst="roundRect">
            <a:avLst/>
          </a:prstGeom>
          <a:solidFill>
            <a:srgbClr val="21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312664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3F7FA"/>
                </a:solidFill>
              </a:rPr>
              <a:t>Storage</a:t>
            </a:r>
          </a:p>
          <a:p>
            <a:r>
              <a:rPr sz="1100">
                <a:solidFill>
                  <a:srgbClr val="F3F7FA"/>
                </a:solidFill>
              </a:rPr>
              <a:t>Market Data / PIT Data / Artifacts / Logs / Vector DB / 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建议的模块化切分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面向 AI Agent 的推荐拆法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023360"/>
                <a:gridCol w="5486400"/>
              </a:tblGrid>
              <a:tr h="662940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模块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职责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与当前 USalpha 的关系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data_core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数据源适配、缓存、清洗、PIT、元数据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从 data.py / CN cache 逻辑中拆出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factor_core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因子表达、注册、计算、依赖管理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从 factors.py / factor_evolution.py 强化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model_lab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训练接口、模型注册、WFO、评估注册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扩展当前 model.py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backtest_core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执行语义、成本、订单、组合、指标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统一 US/CN 回测口径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agent_lab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规划、生成、反思、实验调度、记忆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扩展当前 LLM factor round 雏形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ops_runtime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artifact、日志、监控、告警、任务恢复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补当前缺失的运维层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ui_app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页面、API、报告、工作流入口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把 factor_dashboard.py 拆薄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实施路线图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建议按三阶段推进，而不是一次性重写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66160" cy="4297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9047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阶段 1：平台化基础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37360"/>
            <a:ext cx="315468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统一 data layer 与 cache repair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统一 backtest 接口与 metrics 口径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引入 experiment manifest / run metadata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拆薄 dashboard service 与 page 逻辑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417320"/>
            <a:ext cx="3566160" cy="4297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9047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阶段 2：Agent 化研究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1737360"/>
            <a:ext cx="315468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factor proposer / evaluator / reviewer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研究计划、失败反思、知识库记忆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自动对比实验与报告生成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多模型、多数据源协同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417320"/>
            <a:ext cx="3566160" cy="4297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49047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阶段 3：交易平台化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737360"/>
            <a:ext cx="315468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paper/live bridge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OMS / RMS / alerting / audit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多策略编排与资源调度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生产部署与监控体系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如何增加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不要把 Agent 塞进页面逻辑，而是放进独立编排层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65760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9903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放在哪里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64208"/>
            <a:ext cx="3218688" cy="374903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新增 `agent_lab` 作为独立层。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由 graph/state machine 驱动，而不是由 Streamlit 页面直接串函数。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Agent 只调用标准化 service：data_core / factor_core / model_lab / backtest_core。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每次 run 产生 plan、artifact、verdict、memory。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65760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9903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它能实现什么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1664208"/>
            <a:ext cx="3218688" cy="374903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自动提出候选因子与策略假设。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自动拉取数据、生成实验、运行回测、汇总结论。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对失败结果做归因：数据问题、过拟合、交易成本、样本漂移。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自动输出日报、周报、版本对比和研究建议。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325880"/>
            <a:ext cx="35661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3990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工程要求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664208"/>
            <a:ext cx="3127248" cy="374903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结构化输入输出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checkpoint / resume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memory / knowledge base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任务队列与并发控制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人工批准节点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建议的 Agent 角色设计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先从研究闭环角色开始，不要一开始就做全自动实盘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33856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4526280"/>
                <a:gridCol w="5303520"/>
              </a:tblGrid>
              <a:tr h="58420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3F7FA"/>
                          </a:solidFill>
                        </a:rPr>
                        <a:t>角色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3F7FA"/>
                          </a:solidFill>
                        </a:rPr>
                        <a:t>主要职责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3F7FA"/>
                          </a:solidFill>
                        </a:rPr>
                        <a:t>调用模块 / 产物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Planner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拆解研究目标、安排实验序列、定义成功标准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agent graph / run manifest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Data Steward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选择股票池、校验数据质量、补缓存、控制样本口径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data_core / universe report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Factor Proposer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提出新因子、新组合逻辑、新筛选条件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factor_core / candidate specs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Research Coder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把假设转成可执行配置或代码模板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factor_core / model_lab / patch or config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Backtest Runner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批量执行实验、采集指标、保留 artifact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backtest_core / metrics bundle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Reviewer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检查稳健性、过拟合、泄露、成本敏感性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evaluation report / veto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Risk Agent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评估容量、回撤、行业暴露、风格偏移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risk report / limits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PM Agent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综合建议，决定保留、淘汰、上线观察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final verdict / next action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结论与建议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USalpha 值得继续做，但方向应从“功能堆叠”转向“平台分层”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7280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53619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最终判断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USalpha 当前最有价值的不是单点功能，而是已经形成了“研究闭环 + 产品雏形”。</a:t>
            </a:r>
          </a:p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如果继续只加页面功能，复杂度会迅速堆到 factor_dashboard.py 与临时脚本上。</a:t>
            </a:r>
          </a:p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真正的改进方向是：补平台层、硬化模块边界、把 LLM 能力从单轮工具升级为 Agent 研究系统。</a:t>
            </a:r>
          </a:p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短期应优先建设：数据层、回测层、实验层；中期再做 Agent；最后才是实盘桥接。</a:t>
            </a:r>
          </a:p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建议目标不是直接对标单一平台，而是组合参考：Qlib 的研究底座 + AKQuant/vnpy 的执行抽象 + QuantaAlpha 的 Agent 化因子研发 + a-stock-data 的 A 股信息层。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