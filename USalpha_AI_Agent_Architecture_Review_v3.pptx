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2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E12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822960"/>
            <a:ext cx="164592" cy="2194560"/>
          </a:xfrm>
          <a:prstGeom prst="rect">
            <a:avLst/>
          </a:prstGeom>
          <a:solidFill>
            <a:srgbClr val="39B5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868680"/>
            <a:ext cx="987552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solidFill>
                  <a:srgbClr val="F3F7FA"/>
                </a:solidFill>
              </a:rPr>
              <a:t>USalpha 架构复盘与
AI Agent 量化平台路线图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87552" y="2743200"/>
            <a:ext cx="9601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>
                <a:solidFill>
                  <a:srgbClr val="81D3F8"/>
                </a:solidFill>
              </a:rPr>
              <a:t>现状评估 | 参考平台对比 | 功能缺口 | 模块化设计建议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" y="3383280"/>
            <a:ext cx="9601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>
                <a:solidFill>
                  <a:srgbClr val="B0BCCC"/>
                </a:solidFill>
              </a:rPr>
              <a:t>对象：USalpha 当前版本（v1）
参考仓库：QuantaAlpha / alpha_mining / TradingAgents / akquant / a-stock-data / qlib / Kronos / vnpy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66960" y="6400800"/>
            <a:ext cx="14630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B0BCCC"/>
                </a:solidFill>
              </a:rPr>
              <a:t>01</a:t>
            </a:r>
          </a:p>
        </p:txBody>
      </p:sp>
      <p:sp>
        <p:nvSpPr>
          <p:cNvPr id="8" name="Rectangle 7"/>
          <p:cNvSpPr/>
          <p:nvPr/>
        </p:nvSpPr>
        <p:spPr>
          <a:xfrm>
            <a:off x="9893808" y="6336792"/>
            <a:ext cx="1645920" cy="292608"/>
          </a:xfrm>
          <a:prstGeom prst="rect">
            <a:avLst/>
          </a:prstGeom>
          <a:solidFill>
            <a:srgbClr val="0E12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966960" y="6400800"/>
            <a:ext cx="14630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B0BCCC"/>
                </a:solidFill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2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0881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3F7FA"/>
                </a:solidFill>
              </a:rPr>
              <a:t>执行摘要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6868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>
                <a:solidFill>
                  <a:srgbClr val="B0BCCC"/>
                </a:solidFill>
              </a:rPr>
              <a:t>对当前 USalpha 的一句话判断与优先级建议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234440"/>
            <a:ext cx="1828800" cy="914400"/>
          </a:xfrm>
          <a:prstGeom prst="roundRect">
            <a:avLst/>
          </a:prstGeom>
          <a:solidFill>
            <a:srgbClr val="191F2D"/>
          </a:solidFill>
          <a:ln>
            <a:solidFill>
              <a:srgbClr val="2128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1307592"/>
            <a:ext cx="1609344" cy="7680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50">
                <a:solidFill>
                  <a:srgbClr val="B0BCCC"/>
                </a:solidFill>
              </a:rPr>
              <a:t>研究原型成熟度</a:t>
            </a:r>
          </a:p>
          <a:p>
            <a:r>
              <a:rPr sz="2200" b="1">
                <a:solidFill>
                  <a:srgbClr val="39B5FF"/>
                </a:solidFill>
              </a:rPr>
              <a:t>B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560320" y="1234440"/>
            <a:ext cx="1828800" cy="914400"/>
          </a:xfrm>
          <a:prstGeom prst="roundRect">
            <a:avLst/>
          </a:prstGeom>
          <a:solidFill>
            <a:srgbClr val="191F2D"/>
          </a:solidFill>
          <a:ln>
            <a:solidFill>
              <a:srgbClr val="2128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670048" y="1307592"/>
            <a:ext cx="1609344" cy="7680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50">
                <a:solidFill>
                  <a:srgbClr val="B0BCCC"/>
                </a:solidFill>
              </a:rPr>
              <a:t>模块化程度</a:t>
            </a:r>
          </a:p>
          <a:p>
            <a:r>
              <a:rPr sz="2200" b="1">
                <a:solidFill>
                  <a:srgbClr val="FFC457"/>
                </a:solidFill>
              </a:rPr>
              <a:t>B-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0" y="1234440"/>
            <a:ext cx="1828800" cy="914400"/>
          </a:xfrm>
          <a:prstGeom prst="roundRect">
            <a:avLst/>
          </a:prstGeom>
          <a:solidFill>
            <a:srgbClr val="191F2D"/>
          </a:solidFill>
          <a:ln>
            <a:solidFill>
              <a:srgbClr val="2128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81728" y="1307592"/>
            <a:ext cx="1609344" cy="7680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50">
                <a:solidFill>
                  <a:srgbClr val="B0BCCC"/>
                </a:solidFill>
              </a:rPr>
              <a:t>Agent 就绪度</a:t>
            </a:r>
          </a:p>
          <a:p>
            <a:r>
              <a:rPr sz="2200" b="1">
                <a:solidFill>
                  <a:srgbClr val="FF7878"/>
                </a:solidFill>
              </a:rPr>
              <a:t>C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0" y="1234440"/>
            <a:ext cx="2011680" cy="914400"/>
          </a:xfrm>
          <a:prstGeom prst="roundRect">
            <a:avLst/>
          </a:prstGeom>
          <a:solidFill>
            <a:srgbClr val="191F2D"/>
          </a:solidFill>
          <a:ln>
            <a:solidFill>
              <a:srgbClr val="2128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93408" y="1307592"/>
            <a:ext cx="1792224" cy="7680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1050">
                <a:solidFill>
                  <a:srgbClr val="B0BCCC"/>
                </a:solidFill>
              </a:rPr>
              <a:t>实盘可用度</a:t>
            </a:r>
          </a:p>
          <a:p>
            <a:r>
              <a:rPr sz="2200" b="1">
                <a:solidFill>
                  <a:srgbClr val="FF7878"/>
                </a:solidFill>
              </a:rPr>
              <a:t>C-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2377440"/>
            <a:ext cx="5394960" cy="3474720"/>
          </a:xfrm>
          <a:prstGeom prst="roundRect">
            <a:avLst/>
          </a:prstGeom>
          <a:solidFill>
            <a:srgbClr val="191F2D"/>
          </a:solidFill>
          <a:ln w="12700">
            <a:solidFill>
              <a:srgbClr val="2128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13232" y="2450592"/>
            <a:ext cx="5120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81D3F8"/>
                </a:solidFill>
              </a:rPr>
              <a:t>关键判断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2697480"/>
            <a:ext cx="5029200" cy="292608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F3F7FA"/>
                </a:solidFill>
              </a:defRPr>
            </a:pPr>
            <a:r>
              <a:t>USalpha 已经具备“数据→因子→模型→回测→可视化”的完整研究闭环。</a:t>
            </a:r>
          </a:p>
          <a:p>
            <a:pPr>
              <a:spcAft>
                <a:spcPts val="400"/>
              </a:spcAft>
              <a:defRPr sz="1400">
                <a:solidFill>
                  <a:srgbClr val="F3F7FA"/>
                </a:solidFill>
              </a:defRPr>
            </a:pPr>
            <a:r>
              <a:t>它适合作为研究原型与产品雏形，但还不是成熟的平台型框架。</a:t>
            </a:r>
          </a:p>
          <a:p>
            <a:pPr>
              <a:spcAft>
                <a:spcPts val="400"/>
              </a:spcAft>
              <a:defRPr sz="1400">
                <a:solidFill>
                  <a:srgbClr val="F3F7FA"/>
                </a:solidFill>
              </a:defRPr>
            </a:pPr>
            <a:r>
              <a:t>当前最强的是：自包含、迭代快、功能链路短、容易改。</a:t>
            </a:r>
          </a:p>
          <a:p>
            <a:pPr>
              <a:spcAft>
                <a:spcPts val="400"/>
              </a:spcAft>
              <a:defRPr sz="1400">
                <a:solidFill>
                  <a:srgbClr val="F3F7FA"/>
                </a:solidFill>
              </a:defRPr>
            </a:pPr>
            <a:r>
              <a:t>当前最弱的是：数据层治理、回测引擎抽象、实验管理、Agent 编排与实盘桥接。 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26480" y="2377440"/>
            <a:ext cx="5440680" cy="3474720"/>
          </a:xfrm>
          <a:prstGeom prst="roundRect">
            <a:avLst/>
          </a:prstGeom>
          <a:solidFill>
            <a:srgbClr val="191F2D"/>
          </a:solidFill>
          <a:ln w="12700">
            <a:solidFill>
              <a:srgbClr val="2128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91072" y="2450592"/>
            <a:ext cx="5166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81D3F8"/>
                </a:solidFill>
              </a:rPr>
              <a:t>优先级建议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9360" y="2697480"/>
            <a:ext cx="5029200" cy="292608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F3F7FA"/>
                </a:solidFill>
              </a:defRPr>
            </a:pPr>
            <a:r>
              <a:t>短期：把 USalpha 从“能跑”变成“可持续研发”，先做数据层、缓存层、实验层治理。</a:t>
            </a:r>
          </a:p>
          <a:p>
            <a:pPr>
              <a:spcAft>
                <a:spcPts val="400"/>
              </a:spcAft>
              <a:defRPr sz="1400">
                <a:solidFill>
                  <a:srgbClr val="F3F7FA"/>
                </a:solidFill>
              </a:defRPr>
            </a:pPr>
            <a:r>
              <a:t>中期：引入统一策略/回测抽象、模型注册、评估注册、Agent 调度接口。</a:t>
            </a:r>
          </a:p>
          <a:p>
            <a:pPr>
              <a:spcAft>
                <a:spcPts val="400"/>
              </a:spcAft>
              <a:defRPr sz="1400">
                <a:solidFill>
                  <a:srgbClr val="F3F7FA"/>
                </a:solidFill>
              </a:defRPr>
            </a:pPr>
            <a:r>
              <a:t>长期：拆出 Agent Platform、Research Platform、Execution Platform 三层架构。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966960" y="6400800"/>
            <a:ext cx="14630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B0BCCC"/>
                </a:solidFill>
              </a:rPr>
              <a:t>02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893808" y="6336792"/>
            <a:ext cx="1645920" cy="292608"/>
          </a:xfrm>
          <a:prstGeom prst="rect">
            <a:avLst/>
          </a:prstGeom>
          <a:solidFill>
            <a:srgbClr val="0E12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966960" y="6400800"/>
            <a:ext cx="14630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B0BCCC"/>
                </a:solidFill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2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0881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3F7FA"/>
                </a:solidFill>
              </a:rPr>
              <a:t>USalpha 已完成工作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6868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>
                <a:solidFill>
                  <a:srgbClr val="B0BCCC"/>
                </a:solidFill>
              </a:rPr>
              <a:t>当前版本已经实现的功能面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48640" y="1234440"/>
          <a:ext cx="10881360" cy="4937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/>
                <a:gridCol w="7040880"/>
                <a:gridCol w="2560320"/>
              </a:tblGrid>
              <a:tr h="617220"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3F7FA"/>
                          </a:solidFill>
                        </a:rPr>
                        <a:t>模块</a:t>
                      </a:r>
                    </a:p>
                  </a:txBody>
                  <a:tcPr>
                    <a:solidFill>
                      <a:srgbClr val="2128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3F7FA"/>
                          </a:solidFill>
                        </a:rPr>
                        <a:t>已完成内容</a:t>
                      </a:r>
                    </a:p>
                  </a:txBody>
                  <a:tcPr>
                    <a:solidFill>
                      <a:srgbClr val="2128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3F7FA"/>
                          </a:solidFill>
                        </a:rPr>
                        <a:t>评价</a:t>
                      </a:r>
                    </a:p>
                  </a:txBody>
                  <a:tcPr>
                    <a:solidFill>
                      <a:srgbClr val="21283A"/>
                    </a:solidFill>
                  </a:tcPr>
                </a:tc>
              </a:tr>
              <a:tr h="61722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F3F7FA"/>
                          </a:solidFill>
                        </a:rPr>
                        <a:t>数据</a:t>
                      </a:r>
                    </a:p>
                  </a:txBody>
                  <a:tcPr anchor="ctr">
                    <a:solidFill>
                      <a:srgbClr val="191F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B0BCCC"/>
                          </a:solidFill>
                        </a:rPr>
                        <a:t>行情拉取、NASDAQ 列表缓存、A 股缓存、fallback 机制</a:t>
                      </a:r>
                    </a:p>
                  </a:txBody>
                  <a:tcPr anchor="ctr">
                    <a:solidFill>
                      <a:srgbClr val="191F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B0BCCC"/>
                          </a:solidFill>
                        </a:rPr>
                        <a:t>可用，但治理较浅</a:t>
                      </a:r>
                    </a:p>
                  </a:txBody>
                  <a:tcPr anchor="ctr">
                    <a:solidFill>
                      <a:srgbClr val="191F2D"/>
                    </a:solidFill>
                  </a:tcPr>
                </a:tc>
              </a:tr>
              <a:tr h="61722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F3F7FA"/>
                          </a:solidFill>
                        </a:rPr>
                        <a:t>因子</a:t>
                      </a:r>
                    </a:p>
                  </a:txBody>
                  <a:tcPr anchor="ctr">
                    <a:solidFill>
                      <a:srgbClr val="191F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B0BCCC"/>
                          </a:solidFill>
                        </a:rPr>
                        <a:t>内置 526 因子解析与计算，表达式 evaluator</a:t>
                      </a:r>
                    </a:p>
                  </a:txBody>
                  <a:tcPr anchor="ctr">
                    <a:solidFill>
                      <a:srgbClr val="191F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B0BCCC"/>
                          </a:solidFill>
                        </a:rPr>
                        <a:t>自包含是优点</a:t>
                      </a:r>
                    </a:p>
                  </a:txBody>
                  <a:tcPr anchor="ctr">
                    <a:solidFill>
                      <a:srgbClr val="191F2D"/>
                    </a:solidFill>
                  </a:tcPr>
                </a:tc>
              </a:tr>
              <a:tr h="61722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F3F7FA"/>
                          </a:solidFill>
                        </a:rPr>
                        <a:t>模型</a:t>
                      </a:r>
                    </a:p>
                  </a:txBody>
                  <a:tcPr anchor="ctr">
                    <a:solidFill>
                      <a:srgbClr val="191F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B0BCCC"/>
                          </a:solidFill>
                        </a:rPr>
                        <a:t>轻量截面收益预测基线</a:t>
                      </a:r>
                    </a:p>
                  </a:txBody>
                  <a:tcPr anchor="ctr">
                    <a:solidFill>
                      <a:srgbClr val="191F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B0BCCC"/>
                          </a:solidFill>
                        </a:rPr>
                        <a:t>适合快速实验</a:t>
                      </a:r>
                    </a:p>
                  </a:txBody>
                  <a:tcPr anchor="ctr">
                    <a:solidFill>
                      <a:srgbClr val="191F2D"/>
                    </a:solidFill>
                  </a:tcPr>
                </a:tc>
              </a:tr>
              <a:tr h="61722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F3F7FA"/>
                          </a:solidFill>
                        </a:rPr>
                        <a:t>回测</a:t>
                      </a:r>
                    </a:p>
                  </a:txBody>
                  <a:tcPr anchor="ctr">
                    <a:solidFill>
                      <a:srgbClr val="191F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B0BCCC"/>
                          </a:solidFill>
                        </a:rPr>
                        <a:t>多空回测 + A 股页面化回测</a:t>
                      </a:r>
                    </a:p>
                  </a:txBody>
                  <a:tcPr anchor="ctr">
                    <a:solidFill>
                      <a:srgbClr val="191F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B0BCCC"/>
                          </a:solidFill>
                        </a:rPr>
                        <a:t>功能闭环已形成</a:t>
                      </a:r>
                    </a:p>
                  </a:txBody>
                  <a:tcPr anchor="ctr">
                    <a:solidFill>
                      <a:srgbClr val="191F2D"/>
                    </a:solidFill>
                  </a:tcPr>
                </a:tc>
              </a:tr>
              <a:tr h="61722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F3F7FA"/>
                          </a:solidFill>
                        </a:rPr>
                        <a:t>LLM</a:t>
                      </a:r>
                    </a:p>
                  </a:txBody>
                  <a:tcPr anchor="ctr">
                    <a:solidFill>
                      <a:srgbClr val="191F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B0BCCC"/>
                          </a:solidFill>
                        </a:rPr>
                        <a:t>候选因子生成、打分、入库、结果留档</a:t>
                      </a:r>
                    </a:p>
                  </a:txBody>
                  <a:tcPr anchor="ctr">
                    <a:solidFill>
                      <a:srgbClr val="191F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B0BCCC"/>
                          </a:solidFill>
                        </a:rPr>
                        <a:t>有明显产品雏形</a:t>
                      </a:r>
                    </a:p>
                  </a:txBody>
                  <a:tcPr anchor="ctr">
                    <a:solidFill>
                      <a:srgbClr val="191F2D"/>
                    </a:solidFill>
                  </a:tcPr>
                </a:tc>
              </a:tr>
              <a:tr h="61722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F3F7FA"/>
                          </a:solidFill>
                        </a:rPr>
                        <a:t>可视化</a:t>
                      </a:r>
                    </a:p>
                  </a:txBody>
                  <a:tcPr anchor="ctr">
                    <a:solidFill>
                      <a:srgbClr val="191F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B0BCCC"/>
                          </a:solidFill>
                        </a:rPr>
                        <a:t>股票查看、训练挖掘、回测页面</a:t>
                      </a:r>
                    </a:p>
                  </a:txBody>
                  <a:tcPr anchor="ctr">
                    <a:solidFill>
                      <a:srgbClr val="191F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B0BCCC"/>
                          </a:solidFill>
                        </a:rPr>
                        <a:t>交互面已出现</a:t>
                      </a:r>
                    </a:p>
                  </a:txBody>
                  <a:tcPr anchor="ctr">
                    <a:solidFill>
                      <a:srgbClr val="191F2D"/>
                    </a:solidFill>
                  </a:tcPr>
                </a:tc>
              </a:tr>
              <a:tr h="61722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F3F7FA"/>
                          </a:solidFill>
                        </a:rPr>
                        <a:t>工程</a:t>
                      </a:r>
                    </a:p>
                  </a:txBody>
                  <a:tcPr anchor="ctr">
                    <a:solidFill>
                      <a:srgbClr val="191F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B0BCCC"/>
                          </a:solidFill>
                        </a:rPr>
                        <a:t>相对路径、统一入口、portable check、长任务稳定性修复</a:t>
                      </a:r>
                    </a:p>
                  </a:txBody>
                  <a:tcPr anchor="ctr">
                    <a:solidFill>
                      <a:srgbClr val="191F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B0BCCC"/>
                          </a:solidFill>
                        </a:rPr>
                        <a:t>工程意识在增强</a:t>
                      </a:r>
                    </a:p>
                  </a:txBody>
                  <a:tcPr anchor="ctr">
                    <a:solidFill>
                      <a:srgbClr val="191F2D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9966960" y="6400800"/>
            <a:ext cx="14630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B0BCCC"/>
                </a:solidFill>
              </a:rPr>
              <a:t>03</a:t>
            </a:r>
          </a:p>
        </p:txBody>
      </p:sp>
      <p:sp>
        <p:nvSpPr>
          <p:cNvPr id="6" name="Rectangle 5"/>
          <p:cNvSpPr/>
          <p:nvPr/>
        </p:nvSpPr>
        <p:spPr>
          <a:xfrm>
            <a:off x="9893808" y="6336792"/>
            <a:ext cx="1645920" cy="292608"/>
          </a:xfrm>
          <a:prstGeom prst="rect">
            <a:avLst/>
          </a:prstGeom>
          <a:solidFill>
            <a:srgbClr val="0E12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966960" y="6400800"/>
            <a:ext cx="14630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B0BCCC"/>
                </a:solidFill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2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0881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3F7FA"/>
                </a:solidFill>
              </a:rPr>
              <a:t>完整交易链应该长什么样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6868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>
                <a:solidFill>
                  <a:srgbClr val="B0BCCC"/>
                </a:solidFill>
              </a:rPr>
              <a:t>先建立统一坐标系，再看每个库覆盖了哪一段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20040" y="1554480"/>
            <a:ext cx="1403604" cy="1234440"/>
          </a:xfrm>
          <a:prstGeom prst="roundRect">
            <a:avLst/>
          </a:prstGeom>
          <a:solidFill>
            <a:srgbClr val="191F2D"/>
          </a:solidFill>
          <a:ln>
            <a:solidFill>
              <a:srgbClr val="2128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93192" y="1645920"/>
            <a:ext cx="1257300" cy="10698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3F7FA"/>
                </a:solidFill>
              </a:rPr>
              <a:t>数据</a:t>
            </a:r>
          </a:p>
          <a:p>
            <a:pPr algn="ctr"/>
            <a:r>
              <a:rPr sz="819">
                <a:solidFill>
                  <a:srgbClr val="F3F7FA"/>
                </a:solidFill>
              </a:rPr>
              <a:t>行情/财务/新闻
PIT/缓存</a:t>
            </a:r>
          </a:p>
        </p:txBody>
      </p:sp>
      <p:sp>
        <p:nvSpPr>
          <p:cNvPr id="6" name="Chevron 5"/>
          <p:cNvSpPr/>
          <p:nvPr/>
        </p:nvSpPr>
        <p:spPr>
          <a:xfrm>
            <a:off x="1737360" y="2052828"/>
            <a:ext cx="82296" cy="237744"/>
          </a:xfrm>
          <a:prstGeom prst="chevron">
            <a:avLst/>
          </a:prstGeom>
          <a:solidFill>
            <a:srgbClr val="81D3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778508" y="1554480"/>
            <a:ext cx="1403604" cy="1234440"/>
          </a:xfrm>
          <a:prstGeom prst="roundRect">
            <a:avLst/>
          </a:prstGeom>
          <a:solidFill>
            <a:srgbClr val="191F2D"/>
          </a:solidFill>
          <a:ln>
            <a:solidFill>
              <a:srgbClr val="2128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51660" y="1645920"/>
            <a:ext cx="1257300" cy="10698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3F7FA"/>
                </a:solidFill>
              </a:rPr>
              <a:t>研究</a:t>
            </a:r>
          </a:p>
          <a:p>
            <a:pPr algn="ctr"/>
            <a:r>
              <a:rPr sz="819">
                <a:solidFill>
                  <a:srgbClr val="F3F7FA"/>
                </a:solidFill>
              </a:rPr>
              <a:t>因子/特征
模型/规则</a:t>
            </a:r>
          </a:p>
        </p:txBody>
      </p:sp>
      <p:sp>
        <p:nvSpPr>
          <p:cNvPr id="9" name="Chevron 8"/>
          <p:cNvSpPr/>
          <p:nvPr/>
        </p:nvSpPr>
        <p:spPr>
          <a:xfrm>
            <a:off x="3195828" y="2052828"/>
            <a:ext cx="82296" cy="237744"/>
          </a:xfrm>
          <a:prstGeom prst="chevron">
            <a:avLst/>
          </a:prstGeom>
          <a:solidFill>
            <a:srgbClr val="81D3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236976" y="1554480"/>
            <a:ext cx="1403604" cy="1234440"/>
          </a:xfrm>
          <a:prstGeom prst="roundRect">
            <a:avLst/>
          </a:prstGeom>
          <a:solidFill>
            <a:srgbClr val="24425F"/>
          </a:solidFill>
          <a:ln>
            <a:solidFill>
              <a:srgbClr val="2128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310128" y="1645920"/>
            <a:ext cx="1257300" cy="10698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3F7FA"/>
                </a:solidFill>
              </a:rPr>
              <a:t>信号</a:t>
            </a:r>
          </a:p>
          <a:p>
            <a:pPr algn="ctr"/>
            <a:r>
              <a:rPr sz="819">
                <a:solidFill>
                  <a:srgbClr val="F3F7FA"/>
                </a:solidFill>
              </a:rPr>
              <a:t>预期收益
排序/概率</a:t>
            </a:r>
          </a:p>
        </p:txBody>
      </p:sp>
      <p:sp>
        <p:nvSpPr>
          <p:cNvPr id="12" name="Chevron 11"/>
          <p:cNvSpPr/>
          <p:nvPr/>
        </p:nvSpPr>
        <p:spPr>
          <a:xfrm>
            <a:off x="4654296" y="2052828"/>
            <a:ext cx="82296" cy="237744"/>
          </a:xfrm>
          <a:prstGeom prst="chevron">
            <a:avLst/>
          </a:prstGeom>
          <a:solidFill>
            <a:srgbClr val="81D3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695444" y="1554480"/>
            <a:ext cx="1403604" cy="1234440"/>
          </a:xfrm>
          <a:prstGeom prst="roundRect">
            <a:avLst/>
          </a:prstGeom>
          <a:solidFill>
            <a:srgbClr val="24425F"/>
          </a:solidFill>
          <a:ln>
            <a:solidFill>
              <a:srgbClr val="2128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68596" y="1645920"/>
            <a:ext cx="1257300" cy="10698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3F7FA"/>
                </a:solidFill>
              </a:rPr>
              <a:t>组合</a:t>
            </a:r>
          </a:p>
          <a:p>
            <a:pPr algn="ctr"/>
            <a:r>
              <a:rPr sz="819">
                <a:solidFill>
                  <a:srgbClr val="F3F7FA"/>
                </a:solidFill>
              </a:rPr>
              <a:t>仓位/约束
调仓计划</a:t>
            </a:r>
          </a:p>
        </p:txBody>
      </p:sp>
      <p:sp>
        <p:nvSpPr>
          <p:cNvPr id="15" name="Chevron 14"/>
          <p:cNvSpPr/>
          <p:nvPr/>
        </p:nvSpPr>
        <p:spPr>
          <a:xfrm>
            <a:off x="6112764" y="2052828"/>
            <a:ext cx="82296" cy="237744"/>
          </a:xfrm>
          <a:prstGeom prst="chevron">
            <a:avLst/>
          </a:prstGeom>
          <a:solidFill>
            <a:srgbClr val="81D3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153912" y="1554480"/>
            <a:ext cx="1403604" cy="1234440"/>
          </a:xfrm>
          <a:prstGeom prst="roundRect">
            <a:avLst/>
          </a:prstGeom>
          <a:solidFill>
            <a:srgbClr val="5B4927"/>
          </a:solidFill>
          <a:ln>
            <a:solidFill>
              <a:srgbClr val="2128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27064" y="1645920"/>
            <a:ext cx="1257300" cy="10698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3F7FA"/>
                </a:solidFill>
              </a:rPr>
              <a:t>风控</a:t>
            </a:r>
          </a:p>
          <a:p>
            <a:pPr algn="ctr"/>
            <a:r>
              <a:rPr sz="819">
                <a:solidFill>
                  <a:srgbClr val="F3F7FA"/>
                </a:solidFill>
              </a:rPr>
              <a:t>限仓/暴露
审批/拦截</a:t>
            </a:r>
          </a:p>
        </p:txBody>
      </p:sp>
      <p:sp>
        <p:nvSpPr>
          <p:cNvPr id="18" name="Chevron 17"/>
          <p:cNvSpPr/>
          <p:nvPr/>
        </p:nvSpPr>
        <p:spPr>
          <a:xfrm>
            <a:off x="7571232" y="2052828"/>
            <a:ext cx="82296" cy="237744"/>
          </a:xfrm>
          <a:prstGeom prst="chevron">
            <a:avLst/>
          </a:prstGeom>
          <a:solidFill>
            <a:srgbClr val="81D3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7612380" y="1554480"/>
            <a:ext cx="1403604" cy="1234440"/>
          </a:xfrm>
          <a:prstGeom prst="roundRect">
            <a:avLst/>
          </a:prstGeom>
          <a:solidFill>
            <a:srgbClr val="5B4927"/>
          </a:solidFill>
          <a:ln>
            <a:solidFill>
              <a:srgbClr val="2128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685532" y="1645920"/>
            <a:ext cx="1257300" cy="10698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3F7FA"/>
                </a:solidFill>
              </a:rPr>
              <a:t>执行</a:t>
            </a:r>
          </a:p>
          <a:p>
            <a:pPr algn="ctr"/>
            <a:r>
              <a:rPr sz="819">
                <a:solidFill>
                  <a:srgbClr val="F3F7FA"/>
                </a:solidFill>
              </a:rPr>
              <a:t>订单/撮合
算法交易/网关</a:t>
            </a:r>
          </a:p>
        </p:txBody>
      </p:sp>
      <p:sp>
        <p:nvSpPr>
          <p:cNvPr id="21" name="Chevron 20"/>
          <p:cNvSpPr/>
          <p:nvPr/>
        </p:nvSpPr>
        <p:spPr>
          <a:xfrm>
            <a:off x="9029700" y="2052828"/>
            <a:ext cx="82296" cy="237744"/>
          </a:xfrm>
          <a:prstGeom prst="chevron">
            <a:avLst/>
          </a:prstGeom>
          <a:solidFill>
            <a:srgbClr val="81D3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9070848" y="1554480"/>
            <a:ext cx="1403604" cy="1234440"/>
          </a:xfrm>
          <a:prstGeom prst="roundRect">
            <a:avLst/>
          </a:prstGeom>
          <a:solidFill>
            <a:srgbClr val="403658"/>
          </a:solidFill>
          <a:ln>
            <a:solidFill>
              <a:srgbClr val="2128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0" y="1645920"/>
            <a:ext cx="1257300" cy="10698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3F7FA"/>
                </a:solidFill>
              </a:rPr>
              <a:t>监控</a:t>
            </a:r>
          </a:p>
          <a:p>
            <a:pPr algn="ctr"/>
            <a:r>
              <a:rPr sz="819">
                <a:solidFill>
                  <a:srgbClr val="F3F7FA"/>
                </a:solidFill>
              </a:rPr>
              <a:t>持仓/延迟
告警/审计</a:t>
            </a:r>
          </a:p>
        </p:txBody>
      </p:sp>
      <p:sp>
        <p:nvSpPr>
          <p:cNvPr id="24" name="Chevron 23"/>
          <p:cNvSpPr/>
          <p:nvPr/>
        </p:nvSpPr>
        <p:spPr>
          <a:xfrm>
            <a:off x="10488168" y="2052828"/>
            <a:ext cx="82296" cy="237744"/>
          </a:xfrm>
          <a:prstGeom prst="chevron">
            <a:avLst/>
          </a:prstGeom>
          <a:solidFill>
            <a:srgbClr val="81D3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10529316" y="1554480"/>
            <a:ext cx="1403604" cy="1234440"/>
          </a:xfrm>
          <a:prstGeom prst="roundRect">
            <a:avLst/>
          </a:prstGeom>
          <a:solidFill>
            <a:srgbClr val="403658"/>
          </a:solidFill>
          <a:ln>
            <a:solidFill>
              <a:srgbClr val="2128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602468" y="1645920"/>
            <a:ext cx="1257300" cy="10698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3F7FA"/>
                </a:solidFill>
              </a:rPr>
              <a:t>复盘</a:t>
            </a:r>
          </a:p>
          <a:p>
            <a:pPr algn="ctr"/>
            <a:r>
              <a:rPr sz="819">
                <a:solidFill>
                  <a:srgbClr val="F3F7FA"/>
                </a:solidFill>
              </a:rPr>
              <a:t>绩效归因
记忆/再训练</a:t>
            </a:r>
          </a:p>
        </p:txBody>
      </p:sp>
      <p:graphicFrame>
        <p:nvGraphicFramePr>
          <p:cNvPr id="27" name="Table 26"/>
          <p:cNvGraphicFramePr>
            <a:graphicFrameLocks noGrp="1"/>
          </p:cNvGraphicFramePr>
          <p:nvPr/>
        </p:nvGraphicFramePr>
        <p:xfrm>
          <a:off x="502920" y="3154680"/>
          <a:ext cx="1110996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4297680"/>
                <a:gridCol w="1097280"/>
                <a:gridCol w="4709160"/>
              </a:tblGrid>
              <a:tr h="304800">
                <a:tc>
                  <a:txBody>
                    <a:bodyPr/>
                    <a:lstStyle/>
                    <a:p>
                      <a:r>
                        <a:rPr b="1" sz="950">
                          <a:solidFill>
                            <a:srgbClr val="F3F7FA"/>
                          </a:solidFill>
                        </a:rPr>
                        <a:t>环节</a:t>
                      </a:r>
                    </a:p>
                  </a:txBody>
                  <a:tcPr>
                    <a:solidFill>
                      <a:srgbClr val="2128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950">
                          <a:solidFill>
                            <a:srgbClr val="F3F7FA"/>
                          </a:solidFill>
                        </a:rPr>
                        <a:t>作用原理</a:t>
                      </a:r>
                    </a:p>
                  </a:txBody>
                  <a:tcPr>
                    <a:solidFill>
                      <a:srgbClr val="2128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950">
                          <a:solidFill>
                            <a:srgbClr val="F3F7FA"/>
                          </a:solidFill>
                        </a:rPr>
                        <a:t>USalpha</a:t>
                      </a:r>
                    </a:p>
                  </a:txBody>
                  <a:tcPr>
                    <a:solidFill>
                      <a:srgbClr val="2128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950">
                          <a:solidFill>
                            <a:srgbClr val="F3F7FA"/>
                          </a:solidFill>
                        </a:rPr>
                        <a:t>优先参考库</a:t>
                      </a:r>
                    </a:p>
                  </a:txBody>
                  <a:tcPr>
                    <a:solidFill>
                      <a:srgbClr val="21283A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F3F7FA"/>
                          </a:solidFill>
                        </a:rPr>
                        <a:t>数据</a:t>
                      </a:r>
                    </a:p>
                  </a:txBody>
                  <a:tcPr anchor="ctr">
                    <a:solidFill>
                      <a:srgbClr val="191F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B0BCCC"/>
                          </a:solidFill>
                        </a:rPr>
                        <a:t>保证研究与交易看到的是可用且可追溯的数据</a:t>
                      </a:r>
                    </a:p>
                  </a:txBody>
                  <a:tcPr anchor="ctr">
                    <a:solidFill>
                      <a:srgbClr val="191F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B0BCCC"/>
                          </a:solidFill>
                        </a:rPr>
                        <a:t>部分有</a:t>
                      </a:r>
                    </a:p>
                  </a:txBody>
                  <a:tcPr anchor="ctr">
                    <a:solidFill>
                      <a:srgbClr val="191F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B0BCCC"/>
                          </a:solidFill>
                        </a:rPr>
                        <a:t>a-stock-data / Qlib / vnpy</a:t>
                      </a:r>
                    </a:p>
                  </a:txBody>
                  <a:tcPr anchor="ctr">
                    <a:solidFill>
                      <a:srgbClr val="191F2D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F3F7FA"/>
                          </a:solidFill>
                        </a:rPr>
                        <a:t>研究</a:t>
                      </a:r>
                    </a:p>
                  </a:txBody>
                  <a:tcPr anchor="ctr">
                    <a:solidFill>
                      <a:srgbClr val="191F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B0BCCC"/>
                          </a:solidFill>
                        </a:rPr>
                        <a:t>把市场信息转换成可验证的预测结构</a:t>
                      </a:r>
                    </a:p>
                  </a:txBody>
                  <a:tcPr anchor="ctr">
                    <a:solidFill>
                      <a:srgbClr val="191F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B0BCCC"/>
                          </a:solidFill>
                        </a:rPr>
                        <a:t>有</a:t>
                      </a:r>
                    </a:p>
                  </a:txBody>
                  <a:tcPr anchor="ctr">
                    <a:solidFill>
                      <a:srgbClr val="191F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B0BCCC"/>
                          </a:solidFill>
                        </a:rPr>
                        <a:t>USalpha / QuantaAlpha / alpha_mining / Kronos</a:t>
                      </a:r>
                    </a:p>
                  </a:txBody>
                  <a:tcPr anchor="ctr">
                    <a:solidFill>
                      <a:srgbClr val="191F2D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F3F7FA"/>
                          </a:solidFill>
                        </a:rPr>
                        <a:t>信号</a:t>
                      </a:r>
                    </a:p>
                  </a:txBody>
                  <a:tcPr anchor="ctr">
                    <a:solidFill>
                      <a:srgbClr val="191F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B0BCCC"/>
                          </a:solidFill>
                        </a:rPr>
                        <a:t>把模型输出标准化成可下游消费的分数或标签</a:t>
                      </a:r>
                    </a:p>
                  </a:txBody>
                  <a:tcPr anchor="ctr">
                    <a:solidFill>
                      <a:srgbClr val="191F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B0BCCC"/>
                          </a:solidFill>
                        </a:rPr>
                        <a:t>有</a:t>
                      </a:r>
                    </a:p>
                  </a:txBody>
                  <a:tcPr anchor="ctr">
                    <a:solidFill>
                      <a:srgbClr val="191F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B0BCCC"/>
                          </a:solidFill>
                        </a:rPr>
                        <a:t>Qlib / vnpy.alpha</a:t>
                      </a:r>
                    </a:p>
                  </a:txBody>
                  <a:tcPr anchor="ctr">
                    <a:solidFill>
                      <a:srgbClr val="191F2D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F3F7FA"/>
                          </a:solidFill>
                        </a:rPr>
                        <a:t>组合</a:t>
                      </a:r>
                    </a:p>
                  </a:txBody>
                  <a:tcPr anchor="ctr">
                    <a:solidFill>
                      <a:srgbClr val="191F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B0BCCC"/>
                          </a:solidFill>
                        </a:rPr>
                        <a:t>把单票判断变成资金分配与换仓决策</a:t>
                      </a:r>
                    </a:p>
                  </a:txBody>
                  <a:tcPr anchor="ctr">
                    <a:solidFill>
                      <a:srgbClr val="191F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B0BCCC"/>
                          </a:solidFill>
                        </a:rPr>
                        <a:t>弱</a:t>
                      </a:r>
                    </a:p>
                  </a:txBody>
                  <a:tcPr anchor="ctr">
                    <a:solidFill>
                      <a:srgbClr val="191F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B0BCCC"/>
                          </a:solidFill>
                        </a:rPr>
                        <a:t>Qlib / vnpy / AKQuant</a:t>
                      </a:r>
                    </a:p>
                  </a:txBody>
                  <a:tcPr anchor="ctr">
                    <a:solidFill>
                      <a:srgbClr val="191F2D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F3F7FA"/>
                          </a:solidFill>
                        </a:rPr>
                        <a:t>风控</a:t>
                      </a:r>
                    </a:p>
                  </a:txBody>
                  <a:tcPr anchor="ctr">
                    <a:solidFill>
                      <a:srgbClr val="191F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B0BCCC"/>
                          </a:solidFill>
                        </a:rPr>
                        <a:t>在下单前和持仓中控制风险暴露</a:t>
                      </a:r>
                    </a:p>
                  </a:txBody>
                  <a:tcPr anchor="ctr">
                    <a:solidFill>
                      <a:srgbClr val="191F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B0BCCC"/>
                          </a:solidFill>
                        </a:rPr>
                        <a:t>无</a:t>
                      </a:r>
                    </a:p>
                  </a:txBody>
                  <a:tcPr anchor="ctr">
                    <a:solidFill>
                      <a:srgbClr val="191F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B0BCCC"/>
                          </a:solidFill>
                        </a:rPr>
                        <a:t>AKQuant / vnpy</a:t>
                      </a:r>
                    </a:p>
                  </a:txBody>
                  <a:tcPr anchor="ctr">
                    <a:solidFill>
                      <a:srgbClr val="191F2D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F3F7FA"/>
                          </a:solidFill>
                        </a:rPr>
                        <a:t>执行</a:t>
                      </a:r>
                    </a:p>
                  </a:txBody>
                  <a:tcPr anchor="ctr">
                    <a:solidFill>
                      <a:srgbClr val="191F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B0BCCC"/>
                          </a:solidFill>
                        </a:rPr>
                        <a:t>把目标仓位转成真实订单与成交</a:t>
                      </a:r>
                    </a:p>
                  </a:txBody>
                  <a:tcPr anchor="ctr">
                    <a:solidFill>
                      <a:srgbClr val="191F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B0BCCC"/>
                          </a:solidFill>
                        </a:rPr>
                        <a:t>无</a:t>
                      </a:r>
                    </a:p>
                  </a:txBody>
                  <a:tcPr anchor="ctr">
                    <a:solidFill>
                      <a:srgbClr val="191F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B0BCCC"/>
                          </a:solidFill>
                        </a:rPr>
                        <a:t>AKQuant / vnpy</a:t>
                      </a:r>
                    </a:p>
                  </a:txBody>
                  <a:tcPr anchor="ctr">
                    <a:solidFill>
                      <a:srgbClr val="191F2D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F3F7FA"/>
                          </a:solidFill>
                        </a:rPr>
                        <a:t>监控</a:t>
                      </a:r>
                    </a:p>
                  </a:txBody>
                  <a:tcPr anchor="ctr">
                    <a:solidFill>
                      <a:srgbClr val="191F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B0BCCC"/>
                          </a:solidFill>
                        </a:rPr>
                        <a:t>保证系统活着、状态一致、异常可见</a:t>
                      </a:r>
                    </a:p>
                  </a:txBody>
                  <a:tcPr anchor="ctr">
                    <a:solidFill>
                      <a:srgbClr val="191F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B0BCCC"/>
                          </a:solidFill>
                        </a:rPr>
                        <a:t>很弱</a:t>
                      </a:r>
                    </a:p>
                  </a:txBody>
                  <a:tcPr anchor="ctr">
                    <a:solidFill>
                      <a:srgbClr val="191F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B0BCCC"/>
                          </a:solidFill>
                        </a:rPr>
                        <a:t>AKQuant / vnpy / TradingAgents</a:t>
                      </a:r>
                    </a:p>
                  </a:txBody>
                  <a:tcPr anchor="ctr">
                    <a:solidFill>
                      <a:srgbClr val="191F2D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F3F7FA"/>
                          </a:solidFill>
                        </a:rPr>
                        <a:t>复盘</a:t>
                      </a:r>
                    </a:p>
                  </a:txBody>
                  <a:tcPr anchor="ctr">
                    <a:solidFill>
                      <a:srgbClr val="191F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B0BCCC"/>
                          </a:solidFill>
                        </a:rPr>
                        <a:t>把结果沉淀成知识，驱动下一轮优化</a:t>
                      </a:r>
                    </a:p>
                  </a:txBody>
                  <a:tcPr anchor="ctr">
                    <a:solidFill>
                      <a:srgbClr val="191F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B0BCCC"/>
                          </a:solidFill>
                        </a:rPr>
                        <a:t>弱</a:t>
                      </a:r>
                    </a:p>
                  </a:txBody>
                  <a:tcPr anchor="ctr">
                    <a:solidFill>
                      <a:srgbClr val="191F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>
                          <a:solidFill>
                            <a:srgbClr val="B0BCCC"/>
                          </a:solidFill>
                        </a:rPr>
                        <a:t>TradingAgents / Qlib / QuantaAlpha</a:t>
                      </a:r>
                    </a:p>
                  </a:txBody>
                  <a:tcPr anchor="ctr">
                    <a:solidFill>
                      <a:srgbClr val="191F2D"/>
                    </a:solidFill>
                  </a:tcPr>
                </a:tc>
              </a:tr>
            </a:tbl>
          </a:graphicData>
        </a:graphic>
      </p:graphicFrame>
      <p:sp>
        <p:nvSpPr>
          <p:cNvPr id="28" name="TextBox 27"/>
          <p:cNvSpPr txBox="1"/>
          <p:nvPr/>
        </p:nvSpPr>
        <p:spPr>
          <a:xfrm>
            <a:off x="9966960" y="6400800"/>
            <a:ext cx="14630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B0BCCC"/>
                </a:solidFill>
              </a:rPr>
              <a:t>05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893808" y="6336792"/>
            <a:ext cx="1645920" cy="292608"/>
          </a:xfrm>
          <a:prstGeom prst="rect">
            <a:avLst/>
          </a:prstGeom>
          <a:solidFill>
            <a:srgbClr val="0E12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966960" y="6400800"/>
            <a:ext cx="14630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B0BCCC"/>
                </a:solidFill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2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0881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3F7FA"/>
                </a:solidFill>
              </a:rPr>
              <a:t>USalpha 当前完整流程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6868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>
                <a:solidFill>
                  <a:srgbClr val="B0BCCC"/>
                </a:solidFill>
              </a:rPr>
              <a:t>它目前完成的是“研究到候选交易”的流程，不是完整交易平台流程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11480" y="1737360"/>
            <a:ext cx="1550561" cy="1417320"/>
          </a:xfrm>
          <a:prstGeom prst="roundRect">
            <a:avLst/>
          </a:prstGeom>
          <a:solidFill>
            <a:srgbClr val="191F2D"/>
          </a:solidFill>
          <a:ln>
            <a:solidFill>
              <a:srgbClr val="2128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84632" y="1828800"/>
            <a:ext cx="1404257" cy="1252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>
                <a:solidFill>
                  <a:srgbClr val="F3F7FA"/>
                </a:solidFill>
              </a:rPr>
              <a:t>1 股票池</a:t>
            </a:r>
          </a:p>
          <a:p>
            <a:pPr algn="ctr"/>
            <a:r>
              <a:rPr sz="850">
                <a:solidFill>
                  <a:srgbClr val="F3F7FA"/>
                </a:solidFill>
              </a:rPr>
              <a:t>NASDAQ 列表
A股全市场/自选</a:t>
            </a:r>
          </a:p>
        </p:txBody>
      </p:sp>
      <p:sp>
        <p:nvSpPr>
          <p:cNvPr id="6" name="Chevron 5"/>
          <p:cNvSpPr/>
          <p:nvPr/>
        </p:nvSpPr>
        <p:spPr>
          <a:xfrm>
            <a:off x="1975757" y="2327148"/>
            <a:ext cx="82296" cy="237744"/>
          </a:xfrm>
          <a:prstGeom prst="chevron">
            <a:avLst/>
          </a:prstGeom>
          <a:solidFill>
            <a:srgbClr val="81D3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2035193" y="1737360"/>
            <a:ext cx="1550561" cy="1417320"/>
          </a:xfrm>
          <a:prstGeom prst="roundRect">
            <a:avLst/>
          </a:prstGeom>
          <a:solidFill>
            <a:srgbClr val="191F2D"/>
          </a:solidFill>
          <a:ln>
            <a:solidFill>
              <a:srgbClr val="2128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108345" y="1828800"/>
            <a:ext cx="1404257" cy="1252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>
                <a:solidFill>
                  <a:srgbClr val="F3F7FA"/>
                </a:solidFill>
              </a:rPr>
              <a:t>2 行情准备</a:t>
            </a:r>
          </a:p>
          <a:p>
            <a:pPr algn="ctr"/>
            <a:r>
              <a:rPr sz="850">
                <a:solidFill>
                  <a:srgbClr val="F3F7FA"/>
                </a:solidFill>
              </a:rPr>
              <a:t>yfinance / akshare
本地缓存</a:t>
            </a:r>
          </a:p>
        </p:txBody>
      </p:sp>
      <p:sp>
        <p:nvSpPr>
          <p:cNvPr id="9" name="Chevron 8"/>
          <p:cNvSpPr/>
          <p:nvPr/>
        </p:nvSpPr>
        <p:spPr>
          <a:xfrm>
            <a:off x="3599470" y="2327148"/>
            <a:ext cx="82296" cy="237744"/>
          </a:xfrm>
          <a:prstGeom prst="chevron">
            <a:avLst/>
          </a:prstGeom>
          <a:solidFill>
            <a:srgbClr val="81D3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658906" y="1737360"/>
            <a:ext cx="1550561" cy="1417320"/>
          </a:xfrm>
          <a:prstGeom prst="roundRect">
            <a:avLst/>
          </a:prstGeom>
          <a:solidFill>
            <a:srgbClr val="191F2D"/>
          </a:solidFill>
          <a:ln>
            <a:solidFill>
              <a:srgbClr val="2128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732058" y="1828800"/>
            <a:ext cx="1404257" cy="1252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>
                <a:solidFill>
                  <a:srgbClr val="F3F7FA"/>
                </a:solidFill>
              </a:rPr>
              <a:t>3 特征构建</a:t>
            </a:r>
          </a:p>
          <a:p>
            <a:pPr algn="ctr"/>
            <a:r>
              <a:rPr sz="850">
                <a:solidFill>
                  <a:srgbClr val="F3F7FA"/>
                </a:solidFill>
              </a:rPr>
              <a:t>526 因子
表达式计算</a:t>
            </a:r>
          </a:p>
        </p:txBody>
      </p:sp>
      <p:sp>
        <p:nvSpPr>
          <p:cNvPr id="12" name="Chevron 11"/>
          <p:cNvSpPr/>
          <p:nvPr/>
        </p:nvSpPr>
        <p:spPr>
          <a:xfrm>
            <a:off x="5223183" y="2327148"/>
            <a:ext cx="82296" cy="237744"/>
          </a:xfrm>
          <a:prstGeom prst="chevron">
            <a:avLst/>
          </a:prstGeom>
          <a:solidFill>
            <a:srgbClr val="81D3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282619" y="1737360"/>
            <a:ext cx="1550561" cy="1417320"/>
          </a:xfrm>
          <a:prstGeom prst="roundRect">
            <a:avLst/>
          </a:prstGeom>
          <a:solidFill>
            <a:srgbClr val="191F2D"/>
          </a:solidFill>
          <a:ln>
            <a:solidFill>
              <a:srgbClr val="2128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55771" y="1828800"/>
            <a:ext cx="1404257" cy="1252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>
                <a:solidFill>
                  <a:srgbClr val="F3F7FA"/>
                </a:solidFill>
              </a:rPr>
              <a:t>4 预测打分</a:t>
            </a:r>
          </a:p>
          <a:p>
            <a:pPr algn="ctr"/>
            <a:r>
              <a:rPr sz="850">
                <a:solidFill>
                  <a:srgbClr val="F3F7FA"/>
                </a:solidFill>
              </a:rPr>
              <a:t>截面收益预测
pred score</a:t>
            </a:r>
          </a:p>
        </p:txBody>
      </p:sp>
      <p:sp>
        <p:nvSpPr>
          <p:cNvPr id="15" name="Chevron 14"/>
          <p:cNvSpPr/>
          <p:nvPr/>
        </p:nvSpPr>
        <p:spPr>
          <a:xfrm>
            <a:off x="6846896" y="2327148"/>
            <a:ext cx="82296" cy="237744"/>
          </a:xfrm>
          <a:prstGeom prst="chevron">
            <a:avLst/>
          </a:prstGeom>
          <a:solidFill>
            <a:srgbClr val="81D3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906332" y="1737360"/>
            <a:ext cx="1550561" cy="1417320"/>
          </a:xfrm>
          <a:prstGeom prst="roundRect">
            <a:avLst/>
          </a:prstGeom>
          <a:solidFill>
            <a:srgbClr val="191F2D"/>
          </a:solidFill>
          <a:ln>
            <a:solidFill>
              <a:srgbClr val="2128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979484" y="1828800"/>
            <a:ext cx="1404257" cy="1252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>
                <a:solidFill>
                  <a:srgbClr val="F3F7FA"/>
                </a:solidFill>
              </a:rPr>
              <a:t>5 组合回测</a:t>
            </a:r>
          </a:p>
          <a:p>
            <a:pPr algn="ctr"/>
            <a:r>
              <a:rPr sz="850">
                <a:solidFill>
                  <a:srgbClr val="F3F7FA"/>
                </a:solidFill>
              </a:rPr>
              <a:t>Top/Bottom 分组
long-short</a:t>
            </a:r>
          </a:p>
        </p:txBody>
      </p:sp>
      <p:sp>
        <p:nvSpPr>
          <p:cNvPr id="18" name="Chevron 17"/>
          <p:cNvSpPr/>
          <p:nvPr/>
        </p:nvSpPr>
        <p:spPr>
          <a:xfrm>
            <a:off x="8470609" y="2327148"/>
            <a:ext cx="82296" cy="237744"/>
          </a:xfrm>
          <a:prstGeom prst="chevron">
            <a:avLst/>
          </a:prstGeom>
          <a:solidFill>
            <a:srgbClr val="81D3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530045" y="1737360"/>
            <a:ext cx="1550561" cy="1417320"/>
          </a:xfrm>
          <a:prstGeom prst="roundRect">
            <a:avLst/>
          </a:prstGeom>
          <a:solidFill>
            <a:srgbClr val="2D5278"/>
          </a:solidFill>
          <a:ln>
            <a:solidFill>
              <a:srgbClr val="2128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03197" y="1828800"/>
            <a:ext cx="1404257" cy="1252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>
                <a:solidFill>
                  <a:srgbClr val="F3F7FA"/>
                </a:solidFill>
              </a:rPr>
              <a:t>6 候选输出</a:t>
            </a:r>
          </a:p>
          <a:p>
            <a:pPr algn="ctr"/>
            <a:r>
              <a:rPr sz="850">
                <a:solidFill>
                  <a:srgbClr val="F3F7FA"/>
                </a:solidFill>
              </a:rPr>
              <a:t>明日候选股
图表和持仓明细</a:t>
            </a:r>
          </a:p>
        </p:txBody>
      </p:sp>
      <p:sp>
        <p:nvSpPr>
          <p:cNvPr id="21" name="Chevron 20"/>
          <p:cNvSpPr/>
          <p:nvPr/>
        </p:nvSpPr>
        <p:spPr>
          <a:xfrm>
            <a:off x="10094322" y="2327148"/>
            <a:ext cx="82296" cy="237744"/>
          </a:xfrm>
          <a:prstGeom prst="chevron">
            <a:avLst/>
          </a:prstGeom>
          <a:solidFill>
            <a:srgbClr val="81D3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10153758" y="1737360"/>
            <a:ext cx="1550561" cy="1417320"/>
          </a:xfrm>
          <a:prstGeom prst="roundRect">
            <a:avLst/>
          </a:prstGeom>
          <a:solidFill>
            <a:srgbClr val="5A4226"/>
          </a:solidFill>
          <a:ln>
            <a:solidFill>
              <a:srgbClr val="2128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226910" y="1828800"/>
            <a:ext cx="1404257" cy="12527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>
                <a:solidFill>
                  <a:srgbClr val="F3F7FA"/>
                </a:solidFill>
              </a:rPr>
              <a:t>7 人工执行</a:t>
            </a:r>
          </a:p>
          <a:p>
            <a:pPr algn="ctr"/>
            <a:r>
              <a:rPr sz="850">
                <a:solidFill>
                  <a:srgbClr val="F3F7FA"/>
                </a:solidFill>
              </a:rPr>
              <a:t>页面查看后
手动交易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" y="3657600"/>
            <a:ext cx="5394960" cy="2011680"/>
          </a:xfrm>
          <a:prstGeom prst="roundRect">
            <a:avLst/>
          </a:prstGeom>
          <a:solidFill>
            <a:srgbClr val="191F2D"/>
          </a:solidFill>
          <a:ln w="12700">
            <a:solidFill>
              <a:srgbClr val="2128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13232" y="3730752"/>
            <a:ext cx="51206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81D3F8"/>
                </a:solidFill>
              </a:rPr>
              <a:t>我们已经有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9808" y="3977639"/>
            <a:ext cx="4983480" cy="14173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spcAft>
                <a:spcPts val="400"/>
              </a:spcAft>
              <a:defRPr sz="1150">
                <a:solidFill>
                  <a:srgbClr val="F3F7FA"/>
                </a:solidFill>
              </a:defRPr>
            </a:pPr>
            <a:r>
              <a:t>股票池基础入口、行情缓存、因子计算、模型训练、回测结果、候选列表、页面展示。</a:t>
            </a:r>
          </a:p>
          <a:p>
            <a:pPr>
              <a:spcAft>
                <a:spcPts val="400"/>
              </a:spcAft>
              <a:defRPr sz="1150">
                <a:solidFill>
                  <a:srgbClr val="F3F7FA"/>
                </a:solidFill>
              </a:defRPr>
            </a:pPr>
            <a:r>
              <a:t>LLM 因子演进是研究增强模块，不是交易主流程的核心执行层。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144768" y="3657600"/>
            <a:ext cx="5440680" cy="2011680"/>
          </a:xfrm>
          <a:prstGeom prst="roundRect">
            <a:avLst/>
          </a:prstGeom>
          <a:solidFill>
            <a:srgbClr val="191F2D"/>
          </a:solidFill>
          <a:ln w="12700">
            <a:solidFill>
              <a:srgbClr val="2128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09360" y="3730752"/>
            <a:ext cx="5166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81D3F8"/>
                </a:solidFill>
              </a:rPr>
              <a:t>我们还没有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345936" y="3977639"/>
            <a:ext cx="4983480" cy="141732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spcAft>
                <a:spcPts val="400"/>
              </a:spcAft>
              <a:defRPr sz="1150">
                <a:solidFill>
                  <a:srgbClr val="F3F7FA"/>
                </a:solidFill>
              </a:defRPr>
            </a:pPr>
            <a:r>
              <a:t>组合构建规则、风控审批、订单管理、撮合/网关、成交回报、持仓同步、监控告警、复盘记忆。</a:t>
            </a:r>
          </a:p>
          <a:p>
            <a:pPr>
              <a:spcAft>
                <a:spcPts val="400"/>
              </a:spcAft>
              <a:defRPr sz="1150">
                <a:solidFill>
                  <a:srgbClr val="F3F7FA"/>
                </a:solidFill>
              </a:defRPr>
            </a:pPr>
            <a:r>
              <a:t>也就是说，USalpha 目前停在“研究结果 -&gt; 人工看盘”的位置。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966960" y="6400800"/>
            <a:ext cx="14630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B0BCCC"/>
                </a:solidFill>
              </a:rPr>
              <a:t>04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893808" y="6336792"/>
            <a:ext cx="1645920" cy="292608"/>
          </a:xfrm>
          <a:prstGeom prst="rect">
            <a:avLst/>
          </a:prstGeom>
          <a:solidFill>
            <a:srgbClr val="0E12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966960" y="6400800"/>
            <a:ext cx="14630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B0BCCC"/>
                </a:solidFill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2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0881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3F7FA"/>
                </a:solidFill>
              </a:rPr>
              <a:t>USalpha 在完整交易链上的覆盖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6868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>
                <a:solidFill>
                  <a:srgbClr val="B0BCCC"/>
                </a:solidFill>
              </a:rPr>
              <a:t>这一页回答：我们到底做到哪一步了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84048" y="1207008"/>
          <a:ext cx="11430000" cy="5440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17320"/>
                <a:gridCol w="914400"/>
                <a:gridCol w="2834640"/>
                <a:gridCol w="3200400"/>
                <a:gridCol w="3063240"/>
              </a:tblGrid>
              <a:tr h="604520">
                <a:tc>
                  <a:txBody>
                    <a:bodyPr/>
                    <a:lstStyle/>
                    <a:p>
                      <a:r>
                        <a:rPr b="1" sz="940">
                          <a:solidFill>
                            <a:srgbClr val="F3F7FA"/>
                          </a:solidFill>
                        </a:rPr>
                        <a:t>交易链阶段</a:t>
                      </a:r>
                    </a:p>
                  </a:txBody>
                  <a:tcPr>
                    <a:solidFill>
                      <a:srgbClr val="2128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940">
                          <a:solidFill>
                            <a:srgbClr val="F3F7FA"/>
                          </a:solidFill>
                        </a:rPr>
                        <a:t>当前状态</a:t>
                      </a:r>
                    </a:p>
                  </a:txBody>
                  <a:tcPr>
                    <a:solidFill>
                      <a:srgbClr val="2128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940">
                          <a:solidFill>
                            <a:srgbClr val="F3F7FA"/>
                          </a:solidFill>
                        </a:rPr>
                        <a:t>已有实现</a:t>
                      </a:r>
                    </a:p>
                  </a:txBody>
                  <a:tcPr>
                    <a:solidFill>
                      <a:srgbClr val="2128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940">
                          <a:solidFill>
                            <a:srgbClr val="F3F7FA"/>
                          </a:solidFill>
                        </a:rPr>
                        <a:t>主要缺失</a:t>
                      </a:r>
                    </a:p>
                  </a:txBody>
                  <a:tcPr>
                    <a:solidFill>
                      <a:srgbClr val="2128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940">
                          <a:solidFill>
                            <a:srgbClr val="F3F7FA"/>
                          </a:solidFill>
                        </a:rPr>
                        <a:t>优先参考库</a:t>
                      </a:r>
                    </a:p>
                  </a:txBody>
                  <a:tcPr>
                    <a:solidFill>
                      <a:srgbClr val="21283A"/>
                    </a:solidFill>
                  </a:tcPr>
                </a:tc>
              </a:tr>
              <a:tr h="604520">
                <a:tc>
                  <a:txBody>
                    <a:bodyPr/>
                    <a:lstStyle/>
                    <a:p>
                      <a:r>
                        <a:rPr sz="940">
                          <a:solidFill>
                            <a:srgbClr val="F3F7FA"/>
                          </a:solidFill>
                        </a:rPr>
                        <a:t>股票池/研究目标</a:t>
                      </a:r>
                    </a:p>
                  </a:txBody>
                  <a:tcPr anchor="ctr">
                    <a:solidFill>
                      <a:srgbClr val="191F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40">
                          <a:solidFill>
                            <a:srgbClr val="B0BCCC"/>
                          </a:solidFill>
                        </a:rPr>
                        <a:t>部分</a:t>
                      </a:r>
                    </a:p>
                  </a:txBody>
                  <a:tcPr anchor="ctr">
                    <a:solidFill>
                      <a:srgbClr val="191F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40">
                          <a:solidFill>
                            <a:srgbClr val="B0BCCC"/>
                          </a:solidFill>
                        </a:rPr>
                        <a:t>页面/CLI 可选 universe</a:t>
                      </a:r>
                    </a:p>
                  </a:txBody>
                  <a:tcPr anchor="ctr">
                    <a:solidFill>
                      <a:srgbClr val="191F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40">
                          <a:solidFill>
                            <a:srgbClr val="B0BCCC"/>
                          </a:solidFill>
                        </a:rPr>
                        <a:t>缺统一 universe registry</a:t>
                      </a:r>
                    </a:p>
                  </a:txBody>
                  <a:tcPr anchor="ctr">
                    <a:solidFill>
                      <a:srgbClr val="191F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40">
                          <a:solidFill>
                            <a:srgbClr val="B0BCCC"/>
                          </a:solidFill>
                        </a:rPr>
                        <a:t>Qlib / vnpy.alpha</a:t>
                      </a:r>
                    </a:p>
                  </a:txBody>
                  <a:tcPr anchor="ctr">
                    <a:solidFill>
                      <a:srgbClr val="191F2D"/>
                    </a:solidFill>
                  </a:tcPr>
                </a:tc>
              </a:tr>
              <a:tr h="604520">
                <a:tc>
                  <a:txBody>
                    <a:bodyPr/>
                    <a:lstStyle/>
                    <a:p>
                      <a:r>
                        <a:rPr sz="940">
                          <a:solidFill>
                            <a:srgbClr val="F3F7FA"/>
                          </a:solidFill>
                        </a:rPr>
                        <a:t>数据采集与治理</a:t>
                      </a:r>
                    </a:p>
                  </a:txBody>
                  <a:tcPr anchor="ctr">
                    <a:solidFill>
                      <a:srgbClr val="191F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40">
                          <a:solidFill>
                            <a:srgbClr val="B0BCCC"/>
                          </a:solidFill>
                        </a:rPr>
                        <a:t>部分</a:t>
                      </a:r>
                    </a:p>
                  </a:txBody>
                  <a:tcPr anchor="ctr">
                    <a:solidFill>
                      <a:srgbClr val="191F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40">
                          <a:solidFill>
                            <a:srgbClr val="B0BCCC"/>
                          </a:solidFill>
                        </a:rPr>
                        <a:t>US yfinance + A股缓存</a:t>
                      </a:r>
                    </a:p>
                  </a:txBody>
                  <a:tcPr anchor="ctr">
                    <a:solidFill>
                      <a:srgbClr val="191F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40">
                          <a:solidFill>
                            <a:srgbClr val="B0BCCC"/>
                          </a:solidFill>
                        </a:rPr>
                        <a:t>缺 PIT / 质量层 / 公告新闻统一层</a:t>
                      </a:r>
                    </a:p>
                  </a:txBody>
                  <a:tcPr anchor="ctr">
                    <a:solidFill>
                      <a:srgbClr val="191F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40">
                          <a:solidFill>
                            <a:srgbClr val="B0BCCC"/>
                          </a:solidFill>
                        </a:rPr>
                        <a:t>a-stock-data / Qlib</a:t>
                      </a:r>
                    </a:p>
                  </a:txBody>
                  <a:tcPr anchor="ctr">
                    <a:solidFill>
                      <a:srgbClr val="191F2D"/>
                    </a:solidFill>
                  </a:tcPr>
                </a:tc>
              </a:tr>
              <a:tr h="604520">
                <a:tc>
                  <a:txBody>
                    <a:bodyPr/>
                    <a:lstStyle/>
                    <a:p>
                      <a:r>
                        <a:rPr sz="940">
                          <a:solidFill>
                            <a:srgbClr val="F3F7FA"/>
                          </a:solidFill>
                        </a:rPr>
                        <a:t>因子与特征</a:t>
                      </a:r>
                    </a:p>
                  </a:txBody>
                  <a:tcPr anchor="ctr">
                    <a:solidFill>
                      <a:srgbClr val="191F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40">
                          <a:solidFill>
                            <a:srgbClr val="B0BCCC"/>
                          </a:solidFill>
                        </a:rPr>
                        <a:t>较强</a:t>
                      </a:r>
                    </a:p>
                  </a:txBody>
                  <a:tcPr anchor="ctr">
                    <a:solidFill>
                      <a:srgbClr val="191F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40">
                          <a:solidFill>
                            <a:srgbClr val="B0BCCC"/>
                          </a:solidFill>
                        </a:rPr>
                        <a:t>526 因子 + LLM 候选因子</a:t>
                      </a:r>
                    </a:p>
                  </a:txBody>
                  <a:tcPr anchor="ctr">
                    <a:solidFill>
                      <a:srgbClr val="191F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40">
                          <a:solidFill>
                            <a:srgbClr val="B0BCCC"/>
                          </a:solidFill>
                        </a:rPr>
                        <a:t>缺注册表与依赖图</a:t>
                      </a:r>
                    </a:p>
                  </a:txBody>
                  <a:tcPr anchor="ctr">
                    <a:solidFill>
                      <a:srgbClr val="191F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40">
                          <a:solidFill>
                            <a:srgbClr val="B0BCCC"/>
                          </a:solidFill>
                        </a:rPr>
                        <a:t>QuantaAlpha / alpha_mining</a:t>
                      </a:r>
                    </a:p>
                  </a:txBody>
                  <a:tcPr anchor="ctr">
                    <a:solidFill>
                      <a:srgbClr val="191F2D"/>
                    </a:solidFill>
                  </a:tcPr>
                </a:tc>
              </a:tr>
              <a:tr h="604520">
                <a:tc>
                  <a:txBody>
                    <a:bodyPr/>
                    <a:lstStyle/>
                    <a:p>
                      <a:r>
                        <a:rPr sz="940">
                          <a:solidFill>
                            <a:srgbClr val="F3F7FA"/>
                          </a:solidFill>
                        </a:rPr>
                        <a:t>模型与信号</a:t>
                      </a:r>
                    </a:p>
                  </a:txBody>
                  <a:tcPr anchor="ctr">
                    <a:solidFill>
                      <a:srgbClr val="191F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40">
                          <a:solidFill>
                            <a:srgbClr val="B0BCCC"/>
                          </a:solidFill>
                        </a:rPr>
                        <a:t>中等</a:t>
                      </a:r>
                    </a:p>
                  </a:txBody>
                  <a:tcPr anchor="ctr">
                    <a:solidFill>
                      <a:srgbClr val="191F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40">
                          <a:solidFill>
                            <a:srgbClr val="B0BCCC"/>
                          </a:solidFill>
                        </a:rPr>
                        <a:t>ridge baseline / 单因子评分</a:t>
                      </a:r>
                    </a:p>
                  </a:txBody>
                  <a:tcPr anchor="ctr">
                    <a:solidFill>
                      <a:srgbClr val="191F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40">
                          <a:solidFill>
                            <a:srgbClr val="B0BCCC"/>
                          </a:solidFill>
                        </a:rPr>
                        <a:t>缺模型族 / WFO / online score</a:t>
                      </a:r>
                    </a:p>
                  </a:txBody>
                  <a:tcPr anchor="ctr">
                    <a:solidFill>
                      <a:srgbClr val="191F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40">
                          <a:solidFill>
                            <a:srgbClr val="B0BCCC"/>
                          </a:solidFill>
                        </a:rPr>
                        <a:t>Qlib / vnpy.alpha / Kronos</a:t>
                      </a:r>
                    </a:p>
                  </a:txBody>
                  <a:tcPr anchor="ctr">
                    <a:solidFill>
                      <a:srgbClr val="191F2D"/>
                    </a:solidFill>
                  </a:tcPr>
                </a:tc>
              </a:tr>
              <a:tr h="604520">
                <a:tc>
                  <a:txBody>
                    <a:bodyPr/>
                    <a:lstStyle/>
                    <a:p>
                      <a:r>
                        <a:rPr sz="940">
                          <a:solidFill>
                            <a:srgbClr val="F3F7FA"/>
                          </a:solidFill>
                        </a:rPr>
                        <a:t>组合构建</a:t>
                      </a:r>
                    </a:p>
                  </a:txBody>
                  <a:tcPr anchor="ctr">
                    <a:solidFill>
                      <a:srgbClr val="191F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40">
                          <a:solidFill>
                            <a:srgbClr val="B0BCCC"/>
                          </a:solidFill>
                        </a:rPr>
                        <a:t>较弱</a:t>
                      </a:r>
                    </a:p>
                  </a:txBody>
                  <a:tcPr anchor="ctr">
                    <a:solidFill>
                      <a:srgbClr val="191F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40">
                          <a:solidFill>
                            <a:srgbClr val="B0BCCC"/>
                          </a:solidFill>
                        </a:rPr>
                        <a:t>long-short 分桶 / 候选列表</a:t>
                      </a:r>
                    </a:p>
                  </a:txBody>
                  <a:tcPr anchor="ctr">
                    <a:solidFill>
                      <a:srgbClr val="191F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40">
                          <a:solidFill>
                            <a:srgbClr val="B0BCCC"/>
                          </a:solidFill>
                        </a:rPr>
                        <a:t>缺权重约束、容量、换手控制</a:t>
                      </a:r>
                    </a:p>
                  </a:txBody>
                  <a:tcPr anchor="ctr">
                    <a:solidFill>
                      <a:srgbClr val="191F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40">
                          <a:solidFill>
                            <a:srgbClr val="B0BCCC"/>
                          </a:solidFill>
                        </a:rPr>
                        <a:t>Qlib / AKQuant</a:t>
                      </a:r>
                    </a:p>
                  </a:txBody>
                  <a:tcPr anchor="ctr">
                    <a:solidFill>
                      <a:srgbClr val="191F2D"/>
                    </a:solidFill>
                  </a:tcPr>
                </a:tc>
              </a:tr>
              <a:tr h="604520">
                <a:tc>
                  <a:txBody>
                    <a:bodyPr/>
                    <a:lstStyle/>
                    <a:p>
                      <a:r>
                        <a:rPr sz="940">
                          <a:solidFill>
                            <a:srgbClr val="F3F7FA"/>
                          </a:solidFill>
                        </a:rPr>
                        <a:t>风控与执行计划</a:t>
                      </a:r>
                    </a:p>
                  </a:txBody>
                  <a:tcPr anchor="ctr">
                    <a:solidFill>
                      <a:srgbClr val="191F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40">
                          <a:solidFill>
                            <a:srgbClr val="B0BCCC"/>
                          </a:solidFill>
                        </a:rPr>
                        <a:t>无</a:t>
                      </a:r>
                    </a:p>
                  </a:txBody>
                  <a:tcPr anchor="ctr">
                    <a:solidFill>
                      <a:srgbClr val="191F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40">
                          <a:solidFill>
                            <a:srgbClr val="B0BCCC"/>
                          </a:solidFill>
                        </a:rPr>
                        <a:t>-</a:t>
                      </a:r>
                    </a:p>
                  </a:txBody>
                  <a:tcPr anchor="ctr">
                    <a:solidFill>
                      <a:srgbClr val="191F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40">
                          <a:solidFill>
                            <a:srgbClr val="B0BCCC"/>
                          </a:solidFill>
                        </a:rPr>
                        <a:t>缺 RMS、成本、订单算法</a:t>
                      </a:r>
                    </a:p>
                  </a:txBody>
                  <a:tcPr anchor="ctr">
                    <a:solidFill>
                      <a:srgbClr val="191F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40">
                          <a:solidFill>
                            <a:srgbClr val="B0BCCC"/>
                          </a:solidFill>
                        </a:rPr>
                        <a:t>AKQuant / vnpy</a:t>
                      </a:r>
                    </a:p>
                  </a:txBody>
                  <a:tcPr anchor="ctr">
                    <a:solidFill>
                      <a:srgbClr val="191F2D"/>
                    </a:solidFill>
                  </a:tcPr>
                </a:tc>
              </a:tr>
              <a:tr h="604520">
                <a:tc>
                  <a:txBody>
                    <a:bodyPr/>
                    <a:lstStyle/>
                    <a:p>
                      <a:r>
                        <a:rPr sz="940">
                          <a:solidFill>
                            <a:srgbClr val="F3F7FA"/>
                          </a:solidFill>
                        </a:rPr>
                        <a:t>OMS/网关/实盘</a:t>
                      </a:r>
                    </a:p>
                  </a:txBody>
                  <a:tcPr anchor="ctr">
                    <a:solidFill>
                      <a:srgbClr val="191F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40">
                          <a:solidFill>
                            <a:srgbClr val="B0BCCC"/>
                          </a:solidFill>
                        </a:rPr>
                        <a:t>无</a:t>
                      </a:r>
                    </a:p>
                  </a:txBody>
                  <a:tcPr anchor="ctr">
                    <a:solidFill>
                      <a:srgbClr val="191F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40">
                          <a:solidFill>
                            <a:srgbClr val="B0BCCC"/>
                          </a:solidFill>
                        </a:rPr>
                        <a:t>-</a:t>
                      </a:r>
                    </a:p>
                  </a:txBody>
                  <a:tcPr anchor="ctr">
                    <a:solidFill>
                      <a:srgbClr val="191F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40">
                          <a:solidFill>
                            <a:srgbClr val="B0BCCC"/>
                          </a:solidFill>
                        </a:rPr>
                        <a:t>缺 paper/live bridge 与 order lifecycle</a:t>
                      </a:r>
                    </a:p>
                  </a:txBody>
                  <a:tcPr anchor="ctr">
                    <a:solidFill>
                      <a:srgbClr val="191F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40">
                          <a:solidFill>
                            <a:srgbClr val="B0BCCC"/>
                          </a:solidFill>
                        </a:rPr>
                        <a:t>vnpy / AKQuant</a:t>
                      </a:r>
                    </a:p>
                  </a:txBody>
                  <a:tcPr anchor="ctr">
                    <a:solidFill>
                      <a:srgbClr val="191F2D"/>
                    </a:solidFill>
                  </a:tcPr>
                </a:tc>
              </a:tr>
              <a:tr h="604520">
                <a:tc>
                  <a:txBody>
                    <a:bodyPr/>
                    <a:lstStyle/>
                    <a:p>
                      <a:r>
                        <a:rPr sz="940">
                          <a:solidFill>
                            <a:srgbClr val="F3F7FA"/>
                          </a:solidFill>
                        </a:rPr>
                        <a:t>监控/复盘/记忆</a:t>
                      </a:r>
                    </a:p>
                  </a:txBody>
                  <a:tcPr anchor="ctr">
                    <a:solidFill>
                      <a:srgbClr val="191F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40">
                          <a:solidFill>
                            <a:srgbClr val="B0BCCC"/>
                          </a:solidFill>
                        </a:rPr>
                        <a:t>较弱</a:t>
                      </a:r>
                    </a:p>
                  </a:txBody>
                  <a:tcPr anchor="ctr">
                    <a:solidFill>
                      <a:srgbClr val="191F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40">
                          <a:solidFill>
                            <a:srgbClr val="B0BCCC"/>
                          </a:solidFill>
                        </a:rPr>
                        <a:t>artifacts / json / csv</a:t>
                      </a:r>
                    </a:p>
                  </a:txBody>
                  <a:tcPr anchor="ctr">
                    <a:solidFill>
                      <a:srgbClr val="191F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40">
                          <a:solidFill>
                            <a:srgbClr val="B0BCCC"/>
                          </a:solidFill>
                        </a:rPr>
                        <a:t>缺决策日志、告警、状态恢复</a:t>
                      </a:r>
                    </a:p>
                  </a:txBody>
                  <a:tcPr anchor="ctr">
                    <a:solidFill>
                      <a:srgbClr val="191F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40">
                          <a:solidFill>
                            <a:srgbClr val="B0BCCC"/>
                          </a:solidFill>
                        </a:rPr>
                        <a:t>TradingAgents / Qlib / AKQuant</a:t>
                      </a:r>
                    </a:p>
                  </a:txBody>
                  <a:tcPr anchor="ctr">
                    <a:solidFill>
                      <a:srgbClr val="191F2D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9966960" y="6400800"/>
            <a:ext cx="14630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B0BCCC"/>
                </a:solidFill>
              </a:rPr>
              <a:t>06</a:t>
            </a:r>
          </a:p>
        </p:txBody>
      </p:sp>
      <p:sp>
        <p:nvSpPr>
          <p:cNvPr id="6" name="Rectangle 5"/>
          <p:cNvSpPr/>
          <p:nvPr/>
        </p:nvSpPr>
        <p:spPr>
          <a:xfrm>
            <a:off x="9893808" y="6336792"/>
            <a:ext cx="1645920" cy="292608"/>
          </a:xfrm>
          <a:prstGeom prst="rect">
            <a:avLst/>
          </a:prstGeom>
          <a:solidFill>
            <a:srgbClr val="0E12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966960" y="6400800"/>
            <a:ext cx="14630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B0BCCC"/>
                </a:solidFill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2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0881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3F7FA"/>
                </a:solidFill>
              </a:rPr>
              <a:t>QuantaAlpha 流程图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6868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>
                <a:solidFill>
                  <a:srgbClr val="B0BCCC"/>
                </a:solidFill>
              </a:rPr>
              <a:t>它解决的是“如何系统地产生和筛选 alpha”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1554480"/>
            <a:ext cx="1417320" cy="1234440"/>
          </a:xfrm>
          <a:prstGeom prst="roundRect">
            <a:avLst/>
          </a:prstGeom>
          <a:solidFill>
            <a:srgbClr val="191F2D"/>
          </a:solidFill>
          <a:ln>
            <a:solidFill>
              <a:srgbClr val="2128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47472" y="1645920"/>
            <a:ext cx="1271016" cy="10698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40" b="1">
                <a:solidFill>
                  <a:srgbClr val="F3F7FA"/>
                </a:solidFill>
              </a:rPr>
              <a:t>研究方向</a:t>
            </a:r>
          </a:p>
          <a:p>
            <a:pPr algn="ctr"/>
            <a:r>
              <a:rPr sz="790">
                <a:solidFill>
                  <a:srgbClr val="F3F7FA"/>
                </a:solidFill>
              </a:rPr>
              <a:t>自然语言主题
如 Price-Volume</a:t>
            </a:r>
          </a:p>
        </p:txBody>
      </p:sp>
      <p:sp>
        <p:nvSpPr>
          <p:cNvPr id="6" name="Chevron 5"/>
          <p:cNvSpPr/>
          <p:nvPr/>
        </p:nvSpPr>
        <p:spPr>
          <a:xfrm>
            <a:off x="1705356" y="2052828"/>
            <a:ext cx="82296" cy="237744"/>
          </a:xfrm>
          <a:prstGeom prst="chevron">
            <a:avLst/>
          </a:prstGeom>
          <a:solidFill>
            <a:srgbClr val="81D3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737360" y="1554480"/>
            <a:ext cx="1417320" cy="1234440"/>
          </a:xfrm>
          <a:prstGeom prst="roundRect">
            <a:avLst/>
          </a:prstGeom>
          <a:solidFill>
            <a:srgbClr val="191F2D"/>
          </a:solidFill>
          <a:ln>
            <a:solidFill>
              <a:srgbClr val="2128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10512" y="1645920"/>
            <a:ext cx="1271016" cy="10698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40" b="1">
                <a:solidFill>
                  <a:srgbClr val="F3F7FA"/>
                </a:solidFill>
              </a:rPr>
              <a:t>规划</a:t>
            </a:r>
          </a:p>
          <a:p>
            <a:pPr algn="ctr"/>
            <a:r>
              <a:rPr sz="790">
                <a:solidFill>
                  <a:srgbClr val="F3F7FA"/>
                </a:solidFill>
              </a:rPr>
              <a:t>diversified planning
拆多条方向</a:t>
            </a:r>
          </a:p>
        </p:txBody>
      </p:sp>
      <p:sp>
        <p:nvSpPr>
          <p:cNvPr id="9" name="Chevron 8"/>
          <p:cNvSpPr/>
          <p:nvPr/>
        </p:nvSpPr>
        <p:spPr>
          <a:xfrm>
            <a:off x="3168396" y="2052828"/>
            <a:ext cx="82296" cy="237744"/>
          </a:xfrm>
          <a:prstGeom prst="chevron">
            <a:avLst/>
          </a:prstGeom>
          <a:solidFill>
            <a:srgbClr val="81D3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200400" y="1554480"/>
            <a:ext cx="1417320" cy="1234440"/>
          </a:xfrm>
          <a:prstGeom prst="roundRect">
            <a:avLst/>
          </a:prstGeom>
          <a:solidFill>
            <a:srgbClr val="191F2D"/>
          </a:solidFill>
          <a:ln>
            <a:solidFill>
              <a:srgbClr val="2128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73552" y="1645920"/>
            <a:ext cx="1271016" cy="10698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40" b="1">
                <a:solidFill>
                  <a:srgbClr val="F3F7FA"/>
                </a:solidFill>
              </a:rPr>
              <a:t>假设生成</a:t>
            </a:r>
          </a:p>
          <a:p>
            <a:pPr algn="ctr"/>
            <a:r>
              <a:rPr sz="790">
                <a:solidFill>
                  <a:srgbClr val="F3F7FA"/>
                </a:solidFill>
              </a:rPr>
              <a:t>Hypothesis
提出因子思想</a:t>
            </a:r>
          </a:p>
        </p:txBody>
      </p:sp>
      <p:sp>
        <p:nvSpPr>
          <p:cNvPr id="12" name="Chevron 11"/>
          <p:cNvSpPr/>
          <p:nvPr/>
        </p:nvSpPr>
        <p:spPr>
          <a:xfrm>
            <a:off x="4631436" y="2052828"/>
            <a:ext cx="82296" cy="237744"/>
          </a:xfrm>
          <a:prstGeom prst="chevron">
            <a:avLst/>
          </a:prstGeom>
          <a:solidFill>
            <a:srgbClr val="81D3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663440" y="1554480"/>
            <a:ext cx="1417320" cy="1234440"/>
          </a:xfrm>
          <a:prstGeom prst="roundRect">
            <a:avLst/>
          </a:prstGeom>
          <a:solidFill>
            <a:srgbClr val="191F2D"/>
          </a:solidFill>
          <a:ln>
            <a:solidFill>
              <a:srgbClr val="2128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36592" y="1645920"/>
            <a:ext cx="1271016" cy="10698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40" b="1">
                <a:solidFill>
                  <a:srgbClr val="F3F7FA"/>
                </a:solidFill>
              </a:rPr>
              <a:t>代码实现</a:t>
            </a:r>
          </a:p>
          <a:p>
            <a:pPr algn="ctr"/>
            <a:r>
              <a:rPr sz="790">
                <a:solidFill>
                  <a:srgbClr val="F3F7FA"/>
                </a:solidFill>
              </a:rPr>
              <a:t>LLM coder
转表达式/代码</a:t>
            </a:r>
          </a:p>
        </p:txBody>
      </p:sp>
      <p:sp>
        <p:nvSpPr>
          <p:cNvPr id="15" name="Chevron 14"/>
          <p:cNvSpPr/>
          <p:nvPr/>
        </p:nvSpPr>
        <p:spPr>
          <a:xfrm>
            <a:off x="6094476" y="2052828"/>
            <a:ext cx="82296" cy="237744"/>
          </a:xfrm>
          <a:prstGeom prst="chevron">
            <a:avLst/>
          </a:prstGeom>
          <a:solidFill>
            <a:srgbClr val="81D3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126480" y="1554480"/>
            <a:ext cx="1417320" cy="1234440"/>
          </a:xfrm>
          <a:prstGeom prst="roundRect">
            <a:avLst/>
          </a:prstGeom>
          <a:solidFill>
            <a:srgbClr val="2A4C70"/>
          </a:solidFill>
          <a:ln>
            <a:solidFill>
              <a:srgbClr val="2128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99632" y="1645920"/>
            <a:ext cx="1271016" cy="10698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40" b="1">
                <a:solidFill>
                  <a:srgbClr val="F3F7FA"/>
                </a:solidFill>
              </a:rPr>
              <a:t>局部回测</a:t>
            </a:r>
          </a:p>
          <a:p>
            <a:pPr algn="ctr"/>
            <a:r>
              <a:rPr sz="790">
                <a:solidFill>
                  <a:srgbClr val="F3F7FA"/>
                </a:solidFill>
              </a:rPr>
              <a:t>validation set
快速筛选</a:t>
            </a:r>
          </a:p>
        </p:txBody>
      </p:sp>
      <p:sp>
        <p:nvSpPr>
          <p:cNvPr id="18" name="Chevron 17"/>
          <p:cNvSpPr/>
          <p:nvPr/>
        </p:nvSpPr>
        <p:spPr>
          <a:xfrm>
            <a:off x="7557516" y="2052828"/>
            <a:ext cx="82296" cy="237744"/>
          </a:xfrm>
          <a:prstGeom prst="chevron">
            <a:avLst/>
          </a:prstGeom>
          <a:solidFill>
            <a:srgbClr val="81D3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7589520" y="1554480"/>
            <a:ext cx="1417320" cy="1234440"/>
          </a:xfrm>
          <a:prstGeom prst="roundRect">
            <a:avLst/>
          </a:prstGeom>
          <a:solidFill>
            <a:srgbClr val="2A4C70"/>
          </a:solidFill>
          <a:ln>
            <a:solidFill>
              <a:srgbClr val="2128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662672" y="1645920"/>
            <a:ext cx="1271016" cy="10698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40" b="1">
                <a:solidFill>
                  <a:srgbClr val="F3F7FA"/>
                </a:solidFill>
              </a:rPr>
              <a:t>演化</a:t>
            </a:r>
          </a:p>
          <a:p>
            <a:pPr algn="ctr"/>
            <a:r>
              <a:rPr sz="790">
                <a:solidFill>
                  <a:srgbClr val="F3F7FA"/>
                </a:solidFill>
              </a:rPr>
              <a:t>mutation/crossover
保留好轨迹</a:t>
            </a:r>
          </a:p>
        </p:txBody>
      </p:sp>
      <p:sp>
        <p:nvSpPr>
          <p:cNvPr id="21" name="Chevron 20"/>
          <p:cNvSpPr/>
          <p:nvPr/>
        </p:nvSpPr>
        <p:spPr>
          <a:xfrm>
            <a:off x="9020556" y="2052828"/>
            <a:ext cx="82296" cy="237744"/>
          </a:xfrm>
          <a:prstGeom prst="chevron">
            <a:avLst/>
          </a:prstGeom>
          <a:solidFill>
            <a:srgbClr val="81D3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9052560" y="1554480"/>
            <a:ext cx="1417320" cy="1234440"/>
          </a:xfrm>
          <a:prstGeom prst="roundRect">
            <a:avLst/>
          </a:prstGeom>
          <a:solidFill>
            <a:srgbClr val="2A4C70"/>
          </a:solidFill>
          <a:ln>
            <a:solidFill>
              <a:srgbClr val="2128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25712" y="1645920"/>
            <a:ext cx="1271016" cy="10698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40" b="1">
                <a:solidFill>
                  <a:srgbClr val="F3F7FA"/>
                </a:solidFill>
              </a:rPr>
              <a:t>因子库</a:t>
            </a:r>
          </a:p>
          <a:p>
            <a:pPr algn="ctr"/>
            <a:r>
              <a:rPr sz="790">
                <a:solidFill>
                  <a:srgbClr val="F3F7FA"/>
                </a:solidFill>
              </a:rPr>
              <a:t>library json
沉淀结果</a:t>
            </a:r>
          </a:p>
        </p:txBody>
      </p:sp>
      <p:sp>
        <p:nvSpPr>
          <p:cNvPr id="24" name="Chevron 23"/>
          <p:cNvSpPr/>
          <p:nvPr/>
        </p:nvSpPr>
        <p:spPr>
          <a:xfrm>
            <a:off x="10483596" y="2052828"/>
            <a:ext cx="82296" cy="237744"/>
          </a:xfrm>
          <a:prstGeom prst="chevron">
            <a:avLst/>
          </a:prstGeom>
          <a:solidFill>
            <a:srgbClr val="81D3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10515600" y="1554480"/>
            <a:ext cx="1417320" cy="1234440"/>
          </a:xfrm>
          <a:prstGeom prst="roundRect">
            <a:avLst/>
          </a:prstGeom>
          <a:solidFill>
            <a:srgbClr val="386648"/>
          </a:solidFill>
          <a:ln>
            <a:solidFill>
              <a:srgbClr val="2128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588752" y="1645920"/>
            <a:ext cx="1271016" cy="10698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40" b="1">
                <a:solidFill>
                  <a:srgbClr val="F3F7FA"/>
                </a:solidFill>
              </a:rPr>
              <a:t>独立回测</a:t>
            </a:r>
          </a:p>
          <a:p>
            <a:pPr algn="ctr"/>
            <a:r>
              <a:rPr sz="790">
                <a:solidFill>
                  <a:srgbClr val="F3F7FA"/>
                </a:solidFill>
              </a:rPr>
              <a:t>Qlib full backtest
样本外验证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48640" y="3246120"/>
            <a:ext cx="5486400" cy="2286000"/>
          </a:xfrm>
          <a:prstGeom prst="roundRect">
            <a:avLst/>
          </a:prstGeom>
          <a:solidFill>
            <a:srgbClr val="191F2D"/>
          </a:solidFill>
          <a:ln w="12700">
            <a:solidFill>
              <a:srgbClr val="2128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13232" y="3319272"/>
            <a:ext cx="5212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81D3F8"/>
                </a:solidFill>
              </a:rPr>
              <a:t>每一步的原理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808" y="3566160"/>
            <a:ext cx="5074920" cy="178308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F3F7FA"/>
                </a:solidFill>
              </a:defRPr>
            </a:pPr>
            <a:r>
              <a:t>先把模糊研究意图拆成多条方向，避免单一路径过早收敛。</a:t>
            </a:r>
          </a:p>
          <a:p>
            <a:pPr>
              <a:spcAft>
                <a:spcPts val="400"/>
              </a:spcAft>
              <a:defRPr sz="1100">
                <a:solidFill>
                  <a:srgbClr val="F3F7FA"/>
                </a:solidFill>
              </a:defRPr>
            </a:pPr>
            <a:r>
              <a:t>每轮都要求 hypothesis -&gt; code -&gt; backtest -&gt; feedback 闭环，确保不是纯文本空想。</a:t>
            </a:r>
          </a:p>
          <a:p>
            <a:pPr>
              <a:spcAft>
                <a:spcPts val="400"/>
              </a:spcAft>
              <a:defRPr sz="1100">
                <a:solidFill>
                  <a:srgbClr val="F3F7FA"/>
                </a:solidFill>
              </a:defRPr>
            </a:pPr>
            <a:r>
              <a:t>通过 mutation/crossover 保留有效轨迹，提升探索效率。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236208" y="3246120"/>
            <a:ext cx="5349240" cy="2286000"/>
          </a:xfrm>
          <a:prstGeom prst="roundRect">
            <a:avLst/>
          </a:prstGeom>
          <a:solidFill>
            <a:srgbClr val="191F2D"/>
          </a:solidFill>
          <a:ln w="12700">
            <a:solidFill>
              <a:srgbClr val="2128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00800" y="3319272"/>
            <a:ext cx="5074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81D3F8"/>
                </a:solidFill>
              </a:rPr>
              <a:t>对我们的价值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37376" y="3566160"/>
            <a:ext cx="4937760" cy="178308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F3F7FA"/>
                </a:solidFill>
              </a:defRPr>
            </a:pPr>
            <a:r>
              <a:t>适合补 USalpha 的研究自动化与实验协议层。</a:t>
            </a:r>
          </a:p>
          <a:p>
            <a:pPr>
              <a:spcAft>
                <a:spcPts val="400"/>
              </a:spcAft>
              <a:defRPr sz="1100">
                <a:solidFill>
                  <a:srgbClr val="F3F7FA"/>
                </a:solidFill>
              </a:defRPr>
            </a:pPr>
            <a:r>
              <a:t>不负责真实订单、风控、网关，所以不能当完整交易平台。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966960" y="6400800"/>
            <a:ext cx="14630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B0BCCC"/>
                </a:solidFill>
              </a:rPr>
              <a:t>06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893808" y="6336792"/>
            <a:ext cx="1645920" cy="292608"/>
          </a:xfrm>
          <a:prstGeom prst="rect">
            <a:avLst/>
          </a:prstGeom>
          <a:solidFill>
            <a:srgbClr val="0E12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966960" y="6400800"/>
            <a:ext cx="14630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B0BCCC"/>
                </a:solidFill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2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0881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3F7FA"/>
                </a:solidFill>
              </a:rPr>
              <a:t>alpha_mining 流程图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6868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>
                <a:solidFill>
                  <a:srgbClr val="B0BCCC"/>
                </a:solidFill>
              </a:rPr>
              <a:t>它是更轻量的 Qlib 研究闭环 demo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1554480"/>
            <a:ext cx="1417320" cy="1234440"/>
          </a:xfrm>
          <a:prstGeom prst="roundRect">
            <a:avLst/>
          </a:prstGeom>
          <a:solidFill>
            <a:srgbClr val="191F2D"/>
          </a:solidFill>
          <a:ln>
            <a:solidFill>
              <a:srgbClr val="2128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47472" y="1645920"/>
            <a:ext cx="1271016" cy="10698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>
                <a:solidFill>
                  <a:srgbClr val="F3F7FA"/>
                </a:solidFill>
              </a:rPr>
              <a:t>Qlib 数据</a:t>
            </a:r>
          </a:p>
          <a:p>
            <a:pPr algn="ctr"/>
            <a:r>
              <a:rPr sz="790">
                <a:solidFill>
                  <a:srgbClr val="F3F7FA"/>
                </a:solidFill>
              </a:rPr>
              <a:t>DatasetH
训练/验证/测试</a:t>
            </a:r>
          </a:p>
        </p:txBody>
      </p:sp>
      <p:sp>
        <p:nvSpPr>
          <p:cNvPr id="6" name="Chevron 5"/>
          <p:cNvSpPr/>
          <p:nvPr/>
        </p:nvSpPr>
        <p:spPr>
          <a:xfrm>
            <a:off x="1705356" y="2052828"/>
            <a:ext cx="82296" cy="237744"/>
          </a:xfrm>
          <a:prstGeom prst="chevron">
            <a:avLst/>
          </a:prstGeom>
          <a:solidFill>
            <a:srgbClr val="81D3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737360" y="1554480"/>
            <a:ext cx="1417320" cy="1234440"/>
          </a:xfrm>
          <a:prstGeom prst="roundRect">
            <a:avLst/>
          </a:prstGeom>
          <a:solidFill>
            <a:srgbClr val="191F2D"/>
          </a:solidFill>
          <a:ln>
            <a:solidFill>
              <a:srgbClr val="2128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10512" y="1645920"/>
            <a:ext cx="1271016" cy="10698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>
                <a:solidFill>
                  <a:srgbClr val="F3F7FA"/>
                </a:solidFill>
              </a:rPr>
              <a:t>MyAlpha</a:t>
            </a:r>
          </a:p>
          <a:p>
            <a:pPr algn="ctr"/>
            <a:r>
              <a:rPr sz="790">
                <a:solidFill>
                  <a:srgbClr val="F3F7FA"/>
                </a:solidFill>
              </a:rPr>
              <a:t>200+ 因子
handler</a:t>
            </a:r>
          </a:p>
        </p:txBody>
      </p:sp>
      <p:sp>
        <p:nvSpPr>
          <p:cNvPr id="9" name="Chevron 8"/>
          <p:cNvSpPr/>
          <p:nvPr/>
        </p:nvSpPr>
        <p:spPr>
          <a:xfrm>
            <a:off x="3168396" y="2052828"/>
            <a:ext cx="82296" cy="237744"/>
          </a:xfrm>
          <a:prstGeom prst="chevron">
            <a:avLst/>
          </a:prstGeom>
          <a:solidFill>
            <a:srgbClr val="81D3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200400" y="1554480"/>
            <a:ext cx="1417320" cy="1234440"/>
          </a:xfrm>
          <a:prstGeom prst="roundRect">
            <a:avLst/>
          </a:prstGeom>
          <a:solidFill>
            <a:srgbClr val="191F2D"/>
          </a:solidFill>
          <a:ln>
            <a:solidFill>
              <a:srgbClr val="2128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73552" y="1645920"/>
            <a:ext cx="1271016" cy="10698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>
                <a:solidFill>
                  <a:srgbClr val="F3F7FA"/>
                </a:solidFill>
              </a:rPr>
              <a:t>训练模型</a:t>
            </a:r>
          </a:p>
          <a:p>
            <a:pPr algn="ctr"/>
            <a:r>
              <a:rPr sz="790">
                <a:solidFill>
                  <a:srgbClr val="F3F7FA"/>
                </a:solidFill>
              </a:rPr>
              <a:t>LGBModel
预测未来收益</a:t>
            </a:r>
          </a:p>
        </p:txBody>
      </p:sp>
      <p:sp>
        <p:nvSpPr>
          <p:cNvPr id="12" name="Chevron 11"/>
          <p:cNvSpPr/>
          <p:nvPr/>
        </p:nvSpPr>
        <p:spPr>
          <a:xfrm>
            <a:off x="4631436" y="2052828"/>
            <a:ext cx="82296" cy="237744"/>
          </a:xfrm>
          <a:prstGeom prst="chevron">
            <a:avLst/>
          </a:prstGeom>
          <a:solidFill>
            <a:srgbClr val="81D3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663440" y="1554480"/>
            <a:ext cx="1417320" cy="1234440"/>
          </a:xfrm>
          <a:prstGeom prst="roundRect">
            <a:avLst/>
          </a:prstGeom>
          <a:solidFill>
            <a:srgbClr val="191F2D"/>
          </a:solidFill>
          <a:ln>
            <a:solidFill>
              <a:srgbClr val="2128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36592" y="1645920"/>
            <a:ext cx="1271016" cy="10698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>
                <a:solidFill>
                  <a:srgbClr val="F3F7FA"/>
                </a:solidFill>
              </a:rPr>
              <a:t>信号记录</a:t>
            </a:r>
          </a:p>
          <a:p>
            <a:pPr algn="ctr"/>
            <a:r>
              <a:rPr sz="790">
                <a:solidFill>
                  <a:srgbClr val="F3F7FA"/>
                </a:solidFill>
              </a:rPr>
              <a:t>SignalRecord
保存预测</a:t>
            </a:r>
          </a:p>
        </p:txBody>
      </p:sp>
      <p:sp>
        <p:nvSpPr>
          <p:cNvPr id="15" name="Chevron 14"/>
          <p:cNvSpPr/>
          <p:nvPr/>
        </p:nvSpPr>
        <p:spPr>
          <a:xfrm>
            <a:off x="6094476" y="2052828"/>
            <a:ext cx="82296" cy="237744"/>
          </a:xfrm>
          <a:prstGeom prst="chevron">
            <a:avLst/>
          </a:prstGeom>
          <a:solidFill>
            <a:srgbClr val="81D3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126480" y="1554480"/>
            <a:ext cx="1417320" cy="1234440"/>
          </a:xfrm>
          <a:prstGeom prst="roundRect">
            <a:avLst/>
          </a:prstGeom>
          <a:solidFill>
            <a:srgbClr val="191F2D"/>
          </a:solidFill>
          <a:ln>
            <a:solidFill>
              <a:srgbClr val="2128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99632" y="1645920"/>
            <a:ext cx="1271016" cy="10698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>
                <a:solidFill>
                  <a:srgbClr val="F3F7FA"/>
                </a:solidFill>
              </a:rPr>
              <a:t>信号分析</a:t>
            </a:r>
          </a:p>
          <a:p>
            <a:pPr algn="ctr"/>
            <a:r>
              <a:rPr sz="790">
                <a:solidFill>
                  <a:srgbClr val="F3F7FA"/>
                </a:solidFill>
              </a:rPr>
              <a:t>SigAnaRecord
IC等统计</a:t>
            </a:r>
          </a:p>
        </p:txBody>
      </p:sp>
      <p:sp>
        <p:nvSpPr>
          <p:cNvPr id="18" name="Chevron 17"/>
          <p:cNvSpPr/>
          <p:nvPr/>
        </p:nvSpPr>
        <p:spPr>
          <a:xfrm>
            <a:off x="7557516" y="2052828"/>
            <a:ext cx="82296" cy="237744"/>
          </a:xfrm>
          <a:prstGeom prst="chevron">
            <a:avLst/>
          </a:prstGeom>
          <a:solidFill>
            <a:srgbClr val="81D3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7589520" y="1554480"/>
            <a:ext cx="1417320" cy="1234440"/>
          </a:xfrm>
          <a:prstGeom prst="roundRect">
            <a:avLst/>
          </a:prstGeom>
          <a:solidFill>
            <a:srgbClr val="191F2D"/>
          </a:solidFill>
          <a:ln>
            <a:solidFill>
              <a:srgbClr val="2128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662672" y="1645920"/>
            <a:ext cx="1271016" cy="10698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>
                <a:solidFill>
                  <a:srgbClr val="F3F7FA"/>
                </a:solidFill>
              </a:rPr>
              <a:t>组合回测</a:t>
            </a:r>
          </a:p>
          <a:p>
            <a:pPr algn="ctr"/>
            <a:r>
              <a:rPr sz="790">
                <a:solidFill>
                  <a:srgbClr val="F3F7FA"/>
                </a:solidFill>
              </a:rPr>
              <a:t>TopkDropout
调仓回测</a:t>
            </a:r>
          </a:p>
        </p:txBody>
      </p:sp>
      <p:sp>
        <p:nvSpPr>
          <p:cNvPr id="21" name="Chevron 20"/>
          <p:cNvSpPr/>
          <p:nvPr/>
        </p:nvSpPr>
        <p:spPr>
          <a:xfrm>
            <a:off x="9020556" y="2052828"/>
            <a:ext cx="82296" cy="237744"/>
          </a:xfrm>
          <a:prstGeom prst="chevron">
            <a:avLst/>
          </a:prstGeom>
          <a:solidFill>
            <a:srgbClr val="81D3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9052560" y="1554480"/>
            <a:ext cx="1417320" cy="1234440"/>
          </a:xfrm>
          <a:prstGeom prst="roundRect">
            <a:avLst/>
          </a:prstGeom>
          <a:solidFill>
            <a:srgbClr val="191F2D"/>
          </a:solidFill>
          <a:ln>
            <a:solidFill>
              <a:srgbClr val="2128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25712" y="1645920"/>
            <a:ext cx="1271016" cy="10698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>
                <a:solidFill>
                  <a:srgbClr val="F3F7FA"/>
                </a:solidFill>
              </a:rPr>
              <a:t>可视化</a:t>
            </a:r>
          </a:p>
          <a:p>
            <a:pPr algn="ctr"/>
            <a:r>
              <a:rPr sz="790">
                <a:solidFill>
                  <a:srgbClr val="F3F7FA"/>
                </a:solidFill>
              </a:rPr>
              <a:t>plot / backend
展示结果</a:t>
            </a:r>
          </a:p>
        </p:txBody>
      </p:sp>
      <p:sp>
        <p:nvSpPr>
          <p:cNvPr id="24" name="Chevron 23"/>
          <p:cNvSpPr/>
          <p:nvPr/>
        </p:nvSpPr>
        <p:spPr>
          <a:xfrm>
            <a:off x="10483596" y="2052828"/>
            <a:ext cx="82296" cy="237744"/>
          </a:xfrm>
          <a:prstGeom prst="chevron">
            <a:avLst/>
          </a:prstGeom>
          <a:solidFill>
            <a:srgbClr val="81D3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10515600" y="1554480"/>
            <a:ext cx="1417320" cy="1234440"/>
          </a:xfrm>
          <a:prstGeom prst="roundRect">
            <a:avLst/>
          </a:prstGeom>
          <a:solidFill>
            <a:srgbClr val="191F2D"/>
          </a:solidFill>
          <a:ln>
            <a:solidFill>
              <a:srgbClr val="2128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588752" y="1645920"/>
            <a:ext cx="1271016" cy="10698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>
                <a:solidFill>
                  <a:srgbClr val="F3F7FA"/>
                </a:solidFill>
              </a:rPr>
              <a:t>LLM迭代</a:t>
            </a:r>
          </a:p>
          <a:p>
            <a:pPr algn="ctr"/>
            <a:r>
              <a:rPr sz="790">
                <a:solidFill>
                  <a:srgbClr val="F3F7FA"/>
                </a:solidFill>
              </a:rPr>
              <a:t>refine alpha
继续试验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48640" y="3246120"/>
            <a:ext cx="5486400" cy="2286000"/>
          </a:xfrm>
          <a:prstGeom prst="roundRect">
            <a:avLst/>
          </a:prstGeom>
          <a:solidFill>
            <a:srgbClr val="191F2D"/>
          </a:solidFill>
          <a:ln w="12700">
            <a:solidFill>
              <a:srgbClr val="2128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13232" y="3319272"/>
            <a:ext cx="5212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81D3F8"/>
                </a:solidFill>
              </a:rPr>
              <a:t>原理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808" y="3566160"/>
            <a:ext cx="5074920" cy="178308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F3F7FA"/>
                </a:solidFill>
              </a:defRPr>
            </a:pPr>
            <a:r>
              <a:t>核心是标准 Qlib 路径：dataset -&gt; model -&gt; signal -&gt; strategy -&gt; portfolio analysis。</a:t>
            </a:r>
          </a:p>
          <a:p>
            <a:pPr>
              <a:spcAft>
                <a:spcPts val="400"/>
              </a:spcAft>
              <a:defRPr sz="1100">
                <a:solidFill>
                  <a:srgbClr val="F3F7FA"/>
                </a:solidFill>
              </a:defRPr>
            </a:pPr>
            <a:r>
              <a:t>TopkDropout 的含义是按分数选 topK，并每期替换部分持仓，模拟现实换仓。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236208" y="3246120"/>
            <a:ext cx="5349240" cy="2286000"/>
          </a:xfrm>
          <a:prstGeom prst="roundRect">
            <a:avLst/>
          </a:prstGeom>
          <a:solidFill>
            <a:srgbClr val="191F2D"/>
          </a:solidFill>
          <a:ln w="12700">
            <a:solidFill>
              <a:srgbClr val="2128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00800" y="3319272"/>
            <a:ext cx="5074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81D3F8"/>
                </a:solidFill>
              </a:rPr>
              <a:t>对我们的价值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37376" y="3566160"/>
            <a:ext cx="4937760" cy="178308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F3F7FA"/>
                </a:solidFill>
              </a:defRPr>
            </a:pPr>
            <a:r>
              <a:t>适合借鉴其标准化 signal/record/backtest 结构。</a:t>
            </a:r>
          </a:p>
          <a:p>
            <a:pPr>
              <a:spcAft>
                <a:spcPts val="400"/>
              </a:spcAft>
              <a:defRPr sz="1100">
                <a:solidFill>
                  <a:srgbClr val="F3F7FA"/>
                </a:solidFill>
              </a:defRPr>
            </a:pPr>
            <a:r>
              <a:t>比 QuantaAlpha 简洁，更像 USalpha 可以先走到的下一步。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966960" y="6400800"/>
            <a:ext cx="14630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B0BCCC"/>
                </a:solidFill>
              </a:rPr>
              <a:t>07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893808" y="6336792"/>
            <a:ext cx="1645920" cy="292608"/>
          </a:xfrm>
          <a:prstGeom prst="rect">
            <a:avLst/>
          </a:prstGeom>
          <a:solidFill>
            <a:srgbClr val="0E12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966960" y="6400800"/>
            <a:ext cx="14630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B0BCCC"/>
                </a:solidFill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2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0881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3F7FA"/>
                </a:solidFill>
              </a:rPr>
              <a:t>Qlib 流程图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6868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>
                <a:solidFill>
                  <a:srgbClr val="B0BCCC"/>
                </a:solidFill>
              </a:rPr>
              <a:t>它覆盖了从研究到在线模拟交易的完整平台骨架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1554480"/>
            <a:ext cx="1417320" cy="1234440"/>
          </a:xfrm>
          <a:prstGeom prst="roundRect">
            <a:avLst/>
          </a:prstGeom>
          <a:solidFill>
            <a:srgbClr val="191F2D"/>
          </a:solidFill>
          <a:ln>
            <a:solidFill>
              <a:srgbClr val="2128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47472" y="1645920"/>
            <a:ext cx="1271016" cy="10698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30" b="1">
                <a:solidFill>
                  <a:srgbClr val="F3F7FA"/>
                </a:solidFill>
              </a:rPr>
              <a:t>数据层</a:t>
            </a:r>
          </a:p>
          <a:p>
            <a:pPr algn="ctr"/>
            <a:r>
              <a:rPr sz="780">
                <a:solidFill>
                  <a:srgbClr val="F3F7FA"/>
                </a:solidFill>
              </a:rPr>
              <a:t>provider / PIT
calendar/features</a:t>
            </a:r>
          </a:p>
        </p:txBody>
      </p:sp>
      <p:sp>
        <p:nvSpPr>
          <p:cNvPr id="6" name="Chevron 5"/>
          <p:cNvSpPr/>
          <p:nvPr/>
        </p:nvSpPr>
        <p:spPr>
          <a:xfrm>
            <a:off x="1705356" y="2052828"/>
            <a:ext cx="82296" cy="237744"/>
          </a:xfrm>
          <a:prstGeom prst="chevron">
            <a:avLst/>
          </a:prstGeom>
          <a:solidFill>
            <a:srgbClr val="81D3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737360" y="1554480"/>
            <a:ext cx="1417320" cy="1234440"/>
          </a:xfrm>
          <a:prstGeom prst="roundRect">
            <a:avLst/>
          </a:prstGeom>
          <a:solidFill>
            <a:srgbClr val="191F2D"/>
          </a:solidFill>
          <a:ln>
            <a:solidFill>
              <a:srgbClr val="2128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10512" y="1645920"/>
            <a:ext cx="1271016" cy="10698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30" b="1">
                <a:solidFill>
                  <a:srgbClr val="F3F7FA"/>
                </a:solidFill>
              </a:rPr>
              <a:t>信息提取</a:t>
            </a:r>
          </a:p>
          <a:p>
            <a:pPr algn="ctr"/>
            <a:r>
              <a:rPr sz="780">
                <a:solidFill>
                  <a:srgbClr val="F3F7FA"/>
                </a:solidFill>
              </a:rPr>
              <a:t>DataHandler
Dataset</a:t>
            </a:r>
          </a:p>
        </p:txBody>
      </p:sp>
      <p:sp>
        <p:nvSpPr>
          <p:cNvPr id="9" name="Chevron 8"/>
          <p:cNvSpPr/>
          <p:nvPr/>
        </p:nvSpPr>
        <p:spPr>
          <a:xfrm>
            <a:off x="3168396" y="2052828"/>
            <a:ext cx="82296" cy="237744"/>
          </a:xfrm>
          <a:prstGeom prst="chevron">
            <a:avLst/>
          </a:prstGeom>
          <a:solidFill>
            <a:srgbClr val="81D3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200400" y="1554480"/>
            <a:ext cx="1417320" cy="1234440"/>
          </a:xfrm>
          <a:prstGeom prst="roundRect">
            <a:avLst/>
          </a:prstGeom>
          <a:solidFill>
            <a:srgbClr val="191F2D"/>
          </a:solidFill>
          <a:ln>
            <a:solidFill>
              <a:srgbClr val="2128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73552" y="1645920"/>
            <a:ext cx="1271016" cy="10698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30" b="1">
                <a:solidFill>
                  <a:srgbClr val="F3F7FA"/>
                </a:solidFill>
              </a:rPr>
              <a:t>预测模型</a:t>
            </a:r>
          </a:p>
          <a:p>
            <a:pPr algn="ctr"/>
            <a:r>
              <a:rPr sz="780">
                <a:solidFill>
                  <a:srgbClr val="F3F7FA"/>
                </a:solidFill>
              </a:rPr>
              <a:t>Model zoo
signal</a:t>
            </a:r>
          </a:p>
        </p:txBody>
      </p:sp>
      <p:sp>
        <p:nvSpPr>
          <p:cNvPr id="12" name="Chevron 11"/>
          <p:cNvSpPr/>
          <p:nvPr/>
        </p:nvSpPr>
        <p:spPr>
          <a:xfrm>
            <a:off x="4631436" y="2052828"/>
            <a:ext cx="82296" cy="237744"/>
          </a:xfrm>
          <a:prstGeom prst="chevron">
            <a:avLst/>
          </a:prstGeom>
          <a:solidFill>
            <a:srgbClr val="81D3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663440" y="1554480"/>
            <a:ext cx="1417320" cy="1234440"/>
          </a:xfrm>
          <a:prstGeom prst="roundRect">
            <a:avLst/>
          </a:prstGeom>
          <a:solidFill>
            <a:srgbClr val="24425F"/>
          </a:solidFill>
          <a:ln>
            <a:solidFill>
              <a:srgbClr val="2128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36592" y="1645920"/>
            <a:ext cx="1271016" cy="10698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30" b="1">
                <a:solidFill>
                  <a:srgbClr val="F3F7FA"/>
                </a:solidFill>
              </a:rPr>
              <a:t>决策生成</a:t>
            </a:r>
          </a:p>
          <a:p>
            <a:pPr algn="ctr"/>
            <a:r>
              <a:rPr sz="780">
                <a:solidFill>
                  <a:srgbClr val="F3F7FA"/>
                </a:solidFill>
              </a:rPr>
              <a:t>strategy
portfolio/orders</a:t>
            </a:r>
          </a:p>
        </p:txBody>
      </p:sp>
      <p:sp>
        <p:nvSpPr>
          <p:cNvPr id="15" name="Chevron 14"/>
          <p:cNvSpPr/>
          <p:nvPr/>
        </p:nvSpPr>
        <p:spPr>
          <a:xfrm>
            <a:off x="6094476" y="2052828"/>
            <a:ext cx="82296" cy="237744"/>
          </a:xfrm>
          <a:prstGeom prst="chevron">
            <a:avLst/>
          </a:prstGeom>
          <a:solidFill>
            <a:srgbClr val="81D3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126480" y="1554480"/>
            <a:ext cx="1417320" cy="1234440"/>
          </a:xfrm>
          <a:prstGeom prst="roundRect">
            <a:avLst/>
          </a:prstGeom>
          <a:solidFill>
            <a:srgbClr val="5B4927"/>
          </a:solidFill>
          <a:ln>
            <a:solidFill>
              <a:srgbClr val="2128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99632" y="1645920"/>
            <a:ext cx="1271016" cy="10698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30" b="1">
                <a:solidFill>
                  <a:srgbClr val="F3F7FA"/>
                </a:solidFill>
              </a:rPr>
              <a:t>执行环境</a:t>
            </a:r>
          </a:p>
          <a:p>
            <a:pPr algn="ctr"/>
            <a:r>
              <a:rPr sz="780">
                <a:solidFill>
                  <a:srgbClr val="F3F7FA"/>
                </a:solidFill>
              </a:rPr>
              <a:t>exchange sim
cost/slippage</a:t>
            </a:r>
          </a:p>
        </p:txBody>
      </p:sp>
      <p:sp>
        <p:nvSpPr>
          <p:cNvPr id="18" name="Chevron 17"/>
          <p:cNvSpPr/>
          <p:nvPr/>
        </p:nvSpPr>
        <p:spPr>
          <a:xfrm>
            <a:off x="7557516" y="2052828"/>
            <a:ext cx="82296" cy="237744"/>
          </a:xfrm>
          <a:prstGeom prst="chevron">
            <a:avLst/>
          </a:prstGeom>
          <a:solidFill>
            <a:srgbClr val="81D3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7589520" y="1554480"/>
            <a:ext cx="1417320" cy="1234440"/>
          </a:xfrm>
          <a:prstGeom prst="roundRect">
            <a:avLst/>
          </a:prstGeom>
          <a:solidFill>
            <a:srgbClr val="403658"/>
          </a:solidFill>
          <a:ln>
            <a:solidFill>
              <a:srgbClr val="2128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662672" y="1645920"/>
            <a:ext cx="1271016" cy="10698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30" b="1">
                <a:solidFill>
                  <a:srgbClr val="F3F7FA"/>
                </a:solidFill>
              </a:rPr>
              <a:t>分析记录</a:t>
            </a:r>
          </a:p>
          <a:p>
            <a:pPr algn="ctr"/>
            <a:r>
              <a:rPr sz="780">
                <a:solidFill>
                  <a:srgbClr val="F3F7FA"/>
                </a:solidFill>
              </a:rPr>
              <a:t>Signal/Port
workflow records</a:t>
            </a:r>
          </a:p>
        </p:txBody>
      </p:sp>
      <p:sp>
        <p:nvSpPr>
          <p:cNvPr id="21" name="Chevron 20"/>
          <p:cNvSpPr/>
          <p:nvPr/>
        </p:nvSpPr>
        <p:spPr>
          <a:xfrm>
            <a:off x="9020556" y="2052828"/>
            <a:ext cx="82296" cy="237744"/>
          </a:xfrm>
          <a:prstGeom prst="chevron">
            <a:avLst/>
          </a:prstGeom>
          <a:solidFill>
            <a:srgbClr val="81D3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9052560" y="1554480"/>
            <a:ext cx="1417320" cy="1234440"/>
          </a:xfrm>
          <a:prstGeom prst="roundRect">
            <a:avLst/>
          </a:prstGeom>
          <a:solidFill>
            <a:srgbClr val="403658"/>
          </a:solidFill>
          <a:ln>
            <a:solidFill>
              <a:srgbClr val="2128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25712" y="1645920"/>
            <a:ext cx="1271016" cy="10698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30" b="1">
                <a:solidFill>
                  <a:srgbClr val="F3F7FA"/>
                </a:solidFill>
              </a:rPr>
              <a:t>在线生成</a:t>
            </a:r>
          </a:p>
          <a:p>
            <a:pPr algn="ctr"/>
            <a:r>
              <a:rPr sz="780">
                <a:solidFill>
                  <a:srgbClr val="F3F7FA"/>
                </a:solidFill>
              </a:rPr>
              <a:t>generate order list</a:t>
            </a:r>
          </a:p>
        </p:txBody>
      </p:sp>
      <p:sp>
        <p:nvSpPr>
          <p:cNvPr id="24" name="Chevron 23"/>
          <p:cNvSpPr/>
          <p:nvPr/>
        </p:nvSpPr>
        <p:spPr>
          <a:xfrm>
            <a:off x="10483596" y="2052828"/>
            <a:ext cx="82296" cy="237744"/>
          </a:xfrm>
          <a:prstGeom prst="chevron">
            <a:avLst/>
          </a:prstGeom>
          <a:solidFill>
            <a:srgbClr val="81D3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10515600" y="1554480"/>
            <a:ext cx="1417320" cy="1234440"/>
          </a:xfrm>
          <a:prstGeom prst="roundRect">
            <a:avLst/>
          </a:prstGeom>
          <a:solidFill>
            <a:srgbClr val="403658"/>
          </a:solidFill>
          <a:ln>
            <a:solidFill>
              <a:srgbClr val="2128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588752" y="1645920"/>
            <a:ext cx="1271016" cy="10698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30" b="1">
                <a:solidFill>
                  <a:srgbClr val="F3F7FA"/>
                </a:solidFill>
              </a:rPr>
              <a:t>在线执行更新</a:t>
            </a:r>
          </a:p>
          <a:p>
            <a:pPr algn="ctr"/>
            <a:r>
              <a:rPr sz="780">
                <a:solidFill>
                  <a:srgbClr val="F3F7FA"/>
                </a:solidFill>
              </a:rPr>
              <a:t>execute -&gt; update
账户演进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48640" y="3200400"/>
            <a:ext cx="10972800" cy="2377440"/>
          </a:xfrm>
          <a:prstGeom prst="roundRect">
            <a:avLst/>
          </a:prstGeom>
          <a:solidFill>
            <a:srgbClr val="191F2D"/>
          </a:solidFill>
          <a:ln w="12700">
            <a:solidFill>
              <a:srgbClr val="2128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13232" y="3273552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81D3F8"/>
                </a:solidFill>
              </a:rPr>
              <a:t>原理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" y="3547872"/>
            <a:ext cx="10469880" cy="182880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F3F7FA"/>
                </a:solidFill>
              </a:defRPr>
            </a:pPr>
            <a:r>
              <a:t>Qlib 把“预测”与“决策/执行”分开：模型只给分数，策略把分数转为组合和订单。</a:t>
            </a:r>
          </a:p>
          <a:p>
            <a:pPr>
              <a:spcAft>
                <a:spcPts val="400"/>
              </a:spcAft>
              <a:defRPr sz="1100">
                <a:solidFill>
                  <a:srgbClr val="F3F7FA"/>
                </a:solidFill>
              </a:defRPr>
            </a:pPr>
            <a:r>
              <a:t>在线模块按 generate -&gt; execute -&gt; update 三步推进，保证账户状态、交易结果和下一日决策串起来。</a:t>
            </a:r>
          </a:p>
          <a:p>
            <a:pPr>
              <a:spcAft>
                <a:spcPts val="400"/>
              </a:spcAft>
              <a:defRPr sz="1100">
                <a:solidFill>
                  <a:srgbClr val="F3F7FA"/>
                </a:solidFill>
              </a:defRPr>
            </a:pPr>
            <a:r>
              <a:t>支持多层 strategy/executor 嵌套，这是研究平台向执行平台过渡的关键能力。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966960" y="6400800"/>
            <a:ext cx="14630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B0BCCC"/>
                </a:solidFill>
              </a:rPr>
              <a:t>08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893808" y="6336792"/>
            <a:ext cx="1645920" cy="292608"/>
          </a:xfrm>
          <a:prstGeom prst="rect">
            <a:avLst/>
          </a:prstGeom>
          <a:solidFill>
            <a:srgbClr val="0E12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966960" y="6400800"/>
            <a:ext cx="14630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B0BCCC"/>
                </a:solidFill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2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0881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3F7FA"/>
                </a:solidFill>
              </a:rPr>
              <a:t>TradingAgents 流程图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6868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>
                <a:solidFill>
                  <a:srgbClr val="B0BCCC"/>
                </a:solidFill>
              </a:rPr>
              <a:t>它把交易判断做成多角色组织流程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1554480"/>
            <a:ext cx="1417320" cy="1234440"/>
          </a:xfrm>
          <a:prstGeom prst="roundRect">
            <a:avLst/>
          </a:prstGeom>
          <a:solidFill>
            <a:srgbClr val="191F2D"/>
          </a:solidFill>
          <a:ln>
            <a:solidFill>
              <a:srgbClr val="2128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47472" y="1645920"/>
            <a:ext cx="1271016" cy="10698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19" b="1">
                <a:solidFill>
                  <a:srgbClr val="F3F7FA"/>
                </a:solidFill>
              </a:rPr>
              <a:t>Analysts</a:t>
            </a:r>
          </a:p>
          <a:p>
            <a:pPr algn="ctr"/>
            <a:r>
              <a:rPr sz="780">
                <a:solidFill>
                  <a:srgbClr val="F3F7FA"/>
                </a:solidFill>
              </a:rPr>
              <a:t>technical/news
sentiment/fundamental</a:t>
            </a:r>
          </a:p>
        </p:txBody>
      </p:sp>
      <p:sp>
        <p:nvSpPr>
          <p:cNvPr id="6" name="Chevron 5"/>
          <p:cNvSpPr/>
          <p:nvPr/>
        </p:nvSpPr>
        <p:spPr>
          <a:xfrm>
            <a:off x="1705356" y="2052828"/>
            <a:ext cx="82296" cy="237744"/>
          </a:xfrm>
          <a:prstGeom prst="chevron">
            <a:avLst/>
          </a:prstGeom>
          <a:solidFill>
            <a:srgbClr val="81D3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737360" y="1554480"/>
            <a:ext cx="1417320" cy="1234440"/>
          </a:xfrm>
          <a:prstGeom prst="roundRect">
            <a:avLst/>
          </a:prstGeom>
          <a:solidFill>
            <a:srgbClr val="191F2D"/>
          </a:solidFill>
          <a:ln>
            <a:solidFill>
              <a:srgbClr val="2128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10512" y="1645920"/>
            <a:ext cx="1271016" cy="10698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19" b="1">
                <a:solidFill>
                  <a:srgbClr val="F3F7FA"/>
                </a:solidFill>
              </a:rPr>
              <a:t>工具调用</a:t>
            </a:r>
          </a:p>
          <a:p>
            <a:pPr algn="ctr"/>
            <a:r>
              <a:rPr sz="780">
                <a:solidFill>
                  <a:srgbClr val="F3F7FA"/>
                </a:solidFill>
              </a:rPr>
              <a:t>market/news
fundamental tools</a:t>
            </a:r>
          </a:p>
        </p:txBody>
      </p:sp>
      <p:sp>
        <p:nvSpPr>
          <p:cNvPr id="9" name="Chevron 8"/>
          <p:cNvSpPr/>
          <p:nvPr/>
        </p:nvSpPr>
        <p:spPr>
          <a:xfrm>
            <a:off x="3168396" y="2052828"/>
            <a:ext cx="82296" cy="237744"/>
          </a:xfrm>
          <a:prstGeom prst="chevron">
            <a:avLst/>
          </a:prstGeom>
          <a:solidFill>
            <a:srgbClr val="81D3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200400" y="1554480"/>
            <a:ext cx="1417320" cy="1234440"/>
          </a:xfrm>
          <a:prstGeom prst="roundRect">
            <a:avLst/>
          </a:prstGeom>
          <a:solidFill>
            <a:srgbClr val="191F2D"/>
          </a:solidFill>
          <a:ln>
            <a:solidFill>
              <a:srgbClr val="2128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73552" y="1645920"/>
            <a:ext cx="1271016" cy="10698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19" b="1">
                <a:solidFill>
                  <a:srgbClr val="F3F7FA"/>
                </a:solidFill>
              </a:rPr>
              <a:t>Bull/Bear</a:t>
            </a:r>
          </a:p>
          <a:p>
            <a:pPr algn="ctr"/>
            <a:r>
              <a:rPr sz="780">
                <a:solidFill>
                  <a:srgbClr val="F3F7FA"/>
                </a:solidFill>
              </a:rPr>
              <a:t>研究员辩论
多空观点</a:t>
            </a:r>
          </a:p>
        </p:txBody>
      </p:sp>
      <p:sp>
        <p:nvSpPr>
          <p:cNvPr id="12" name="Chevron 11"/>
          <p:cNvSpPr/>
          <p:nvPr/>
        </p:nvSpPr>
        <p:spPr>
          <a:xfrm>
            <a:off x="4631436" y="2052828"/>
            <a:ext cx="82296" cy="237744"/>
          </a:xfrm>
          <a:prstGeom prst="chevron">
            <a:avLst/>
          </a:prstGeom>
          <a:solidFill>
            <a:srgbClr val="81D3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663440" y="1554480"/>
            <a:ext cx="1417320" cy="1234440"/>
          </a:xfrm>
          <a:prstGeom prst="roundRect">
            <a:avLst/>
          </a:prstGeom>
          <a:solidFill>
            <a:srgbClr val="191F2D"/>
          </a:solidFill>
          <a:ln>
            <a:solidFill>
              <a:srgbClr val="2128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36592" y="1645920"/>
            <a:ext cx="1271016" cy="10698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19" b="1">
                <a:solidFill>
                  <a:srgbClr val="F3F7FA"/>
                </a:solidFill>
              </a:rPr>
              <a:t>Research Manager</a:t>
            </a:r>
          </a:p>
          <a:p>
            <a:pPr algn="ctr"/>
            <a:r>
              <a:rPr sz="780">
                <a:solidFill>
                  <a:srgbClr val="F3F7FA"/>
                </a:solidFill>
              </a:rPr>
              <a:t>汇总成
投资计划</a:t>
            </a:r>
          </a:p>
        </p:txBody>
      </p:sp>
      <p:sp>
        <p:nvSpPr>
          <p:cNvPr id="15" name="Chevron 14"/>
          <p:cNvSpPr/>
          <p:nvPr/>
        </p:nvSpPr>
        <p:spPr>
          <a:xfrm>
            <a:off x="6094476" y="2052828"/>
            <a:ext cx="82296" cy="237744"/>
          </a:xfrm>
          <a:prstGeom prst="chevron">
            <a:avLst/>
          </a:prstGeom>
          <a:solidFill>
            <a:srgbClr val="81D3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126480" y="1554480"/>
            <a:ext cx="1417320" cy="1234440"/>
          </a:xfrm>
          <a:prstGeom prst="roundRect">
            <a:avLst/>
          </a:prstGeom>
          <a:solidFill>
            <a:srgbClr val="191F2D"/>
          </a:solidFill>
          <a:ln>
            <a:solidFill>
              <a:srgbClr val="2128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99632" y="1645920"/>
            <a:ext cx="1271016" cy="10698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19" b="1">
                <a:solidFill>
                  <a:srgbClr val="F3F7FA"/>
                </a:solidFill>
              </a:rPr>
              <a:t>Trader</a:t>
            </a:r>
          </a:p>
          <a:p>
            <a:pPr algn="ctr"/>
            <a:r>
              <a:rPr sz="780">
                <a:solidFill>
                  <a:srgbClr val="F3F7FA"/>
                </a:solidFill>
              </a:rPr>
              <a:t>形成交易方案
时机与仓位</a:t>
            </a:r>
          </a:p>
        </p:txBody>
      </p:sp>
      <p:sp>
        <p:nvSpPr>
          <p:cNvPr id="18" name="Chevron 17"/>
          <p:cNvSpPr/>
          <p:nvPr/>
        </p:nvSpPr>
        <p:spPr>
          <a:xfrm>
            <a:off x="7557516" y="2052828"/>
            <a:ext cx="82296" cy="237744"/>
          </a:xfrm>
          <a:prstGeom prst="chevron">
            <a:avLst/>
          </a:prstGeom>
          <a:solidFill>
            <a:srgbClr val="81D3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7589520" y="1554480"/>
            <a:ext cx="1417320" cy="1234440"/>
          </a:xfrm>
          <a:prstGeom prst="roundRect">
            <a:avLst/>
          </a:prstGeom>
          <a:solidFill>
            <a:srgbClr val="191F2D"/>
          </a:solidFill>
          <a:ln>
            <a:solidFill>
              <a:srgbClr val="2128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662672" y="1645920"/>
            <a:ext cx="1271016" cy="10698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19" b="1">
                <a:solidFill>
                  <a:srgbClr val="F3F7FA"/>
                </a:solidFill>
              </a:rPr>
              <a:t>Risk Debate</a:t>
            </a:r>
          </a:p>
          <a:p>
            <a:pPr algn="ctr"/>
            <a:r>
              <a:rPr sz="780">
                <a:solidFill>
                  <a:srgbClr val="F3F7FA"/>
                </a:solidFill>
              </a:rPr>
              <a:t>激进/中性/保守
风控辩论</a:t>
            </a:r>
          </a:p>
        </p:txBody>
      </p:sp>
      <p:sp>
        <p:nvSpPr>
          <p:cNvPr id="21" name="Chevron 20"/>
          <p:cNvSpPr/>
          <p:nvPr/>
        </p:nvSpPr>
        <p:spPr>
          <a:xfrm>
            <a:off x="9020556" y="2052828"/>
            <a:ext cx="82296" cy="237744"/>
          </a:xfrm>
          <a:prstGeom prst="chevron">
            <a:avLst/>
          </a:prstGeom>
          <a:solidFill>
            <a:srgbClr val="81D3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9052560" y="1554480"/>
            <a:ext cx="1417320" cy="1234440"/>
          </a:xfrm>
          <a:prstGeom prst="roundRect">
            <a:avLst/>
          </a:prstGeom>
          <a:solidFill>
            <a:srgbClr val="191F2D"/>
          </a:solidFill>
          <a:ln>
            <a:solidFill>
              <a:srgbClr val="2128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25712" y="1645920"/>
            <a:ext cx="1271016" cy="10698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19" b="1">
                <a:solidFill>
                  <a:srgbClr val="F3F7FA"/>
                </a:solidFill>
              </a:rPr>
              <a:t>Portfolio Manager</a:t>
            </a:r>
          </a:p>
          <a:p>
            <a:pPr algn="ctr"/>
            <a:r>
              <a:rPr sz="780">
                <a:solidFill>
                  <a:srgbClr val="F3F7FA"/>
                </a:solidFill>
              </a:rPr>
              <a:t>最终批准
交易决策</a:t>
            </a:r>
          </a:p>
        </p:txBody>
      </p:sp>
      <p:sp>
        <p:nvSpPr>
          <p:cNvPr id="24" name="Chevron 23"/>
          <p:cNvSpPr/>
          <p:nvPr/>
        </p:nvSpPr>
        <p:spPr>
          <a:xfrm>
            <a:off x="10483596" y="2052828"/>
            <a:ext cx="82296" cy="237744"/>
          </a:xfrm>
          <a:prstGeom prst="chevron">
            <a:avLst/>
          </a:prstGeom>
          <a:solidFill>
            <a:srgbClr val="81D3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10515600" y="1554480"/>
            <a:ext cx="1417320" cy="1234440"/>
          </a:xfrm>
          <a:prstGeom prst="roundRect">
            <a:avLst/>
          </a:prstGeom>
          <a:solidFill>
            <a:srgbClr val="191F2D"/>
          </a:solidFill>
          <a:ln>
            <a:solidFill>
              <a:srgbClr val="2128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588752" y="1645920"/>
            <a:ext cx="1271016" cy="10698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19" b="1">
                <a:solidFill>
                  <a:srgbClr val="F3F7FA"/>
                </a:solidFill>
              </a:rPr>
              <a:t>Memory/Resume</a:t>
            </a:r>
          </a:p>
          <a:p>
            <a:pPr algn="ctr"/>
            <a:r>
              <a:rPr sz="780">
                <a:solidFill>
                  <a:srgbClr val="F3F7FA"/>
                </a:solidFill>
              </a:rPr>
              <a:t>decision log
checkpoint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48640" y="3246120"/>
            <a:ext cx="5486400" cy="2286000"/>
          </a:xfrm>
          <a:prstGeom prst="roundRect">
            <a:avLst/>
          </a:prstGeom>
          <a:solidFill>
            <a:srgbClr val="191F2D"/>
          </a:solidFill>
          <a:ln w="12700">
            <a:solidFill>
              <a:srgbClr val="2128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13232" y="3319272"/>
            <a:ext cx="5212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81D3F8"/>
                </a:solidFill>
              </a:rPr>
              <a:t>原理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9808" y="3566160"/>
            <a:ext cx="5074920" cy="178308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F3F7FA"/>
                </a:solidFill>
              </a:defRPr>
            </a:pPr>
            <a:r>
              <a:t>用 LangGraph 把角色和条件跳转写成状态机，而不是把 prompt 串成一条长链。</a:t>
            </a:r>
          </a:p>
          <a:p>
            <a:pPr>
              <a:spcAft>
                <a:spcPts val="400"/>
              </a:spcAft>
              <a:defRPr sz="1100">
                <a:solidFill>
                  <a:srgbClr val="F3F7FA"/>
                </a:solidFill>
              </a:defRPr>
            </a:pPr>
            <a:r>
              <a:t>辩论的作用不是热闹，而是强制暴露相反证据，减少单模型单视角偏见。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236208" y="3246120"/>
            <a:ext cx="5349240" cy="2286000"/>
          </a:xfrm>
          <a:prstGeom prst="roundRect">
            <a:avLst/>
          </a:prstGeom>
          <a:solidFill>
            <a:srgbClr val="191F2D"/>
          </a:solidFill>
          <a:ln w="12700">
            <a:solidFill>
              <a:srgbClr val="2128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00800" y="3319272"/>
            <a:ext cx="50749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81D3F8"/>
                </a:solidFill>
              </a:rPr>
              <a:t>局限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37376" y="3566160"/>
            <a:ext cx="4937760" cy="178308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F3F7FA"/>
                </a:solidFill>
              </a:defRPr>
            </a:pPr>
            <a:r>
              <a:t>更像研究型决策组织，不是成熟的订单执行与 broker 平台。</a:t>
            </a:r>
          </a:p>
          <a:p>
            <a:pPr>
              <a:spcAft>
                <a:spcPts val="400"/>
              </a:spcAft>
              <a:defRPr sz="1100">
                <a:solidFill>
                  <a:srgbClr val="F3F7FA"/>
                </a:solidFill>
              </a:defRPr>
            </a:pPr>
            <a:r>
              <a:t>最适合作为 USalpha 的 agent 编排层参考。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966960" y="6400800"/>
            <a:ext cx="14630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B0BCCC"/>
                </a:solidFill>
              </a:rPr>
              <a:t>09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893808" y="6336792"/>
            <a:ext cx="1645920" cy="292608"/>
          </a:xfrm>
          <a:prstGeom prst="rect">
            <a:avLst/>
          </a:prstGeom>
          <a:solidFill>
            <a:srgbClr val="0E12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966960" y="6400800"/>
            <a:ext cx="14630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B0BCCC"/>
                </a:solidFill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2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0881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3F7FA"/>
                </a:solidFill>
              </a:rPr>
              <a:t>AKQuant 流程图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6868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>
                <a:solidFill>
                  <a:srgbClr val="B0BCCC"/>
                </a:solidFill>
              </a:rPr>
              <a:t>它最接近完整交易系统的工程链路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1554480"/>
            <a:ext cx="1417320" cy="1234440"/>
          </a:xfrm>
          <a:prstGeom prst="roundRect">
            <a:avLst/>
          </a:prstGeom>
          <a:solidFill>
            <a:srgbClr val="191F2D"/>
          </a:solidFill>
          <a:ln>
            <a:solidFill>
              <a:srgbClr val="2128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47472" y="1645920"/>
            <a:ext cx="1271016" cy="10698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10" b="1">
                <a:solidFill>
                  <a:srgbClr val="F3F7FA"/>
                </a:solidFill>
              </a:rPr>
              <a:t>DataFeed</a:t>
            </a:r>
          </a:p>
          <a:p>
            <a:pPr algn="ctr"/>
            <a:r>
              <a:rPr sz="770">
                <a:solidFill>
                  <a:srgbClr val="F3F7FA"/>
                </a:solidFill>
              </a:rPr>
              <a:t>历史/实时
Bar/Tick流</a:t>
            </a:r>
          </a:p>
        </p:txBody>
      </p:sp>
      <p:sp>
        <p:nvSpPr>
          <p:cNvPr id="6" name="Chevron 5"/>
          <p:cNvSpPr/>
          <p:nvPr/>
        </p:nvSpPr>
        <p:spPr>
          <a:xfrm>
            <a:off x="1705356" y="2052828"/>
            <a:ext cx="82296" cy="237744"/>
          </a:xfrm>
          <a:prstGeom prst="chevron">
            <a:avLst/>
          </a:prstGeom>
          <a:solidFill>
            <a:srgbClr val="81D3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737360" y="1554480"/>
            <a:ext cx="1417320" cy="1234440"/>
          </a:xfrm>
          <a:prstGeom prst="roundRect">
            <a:avLst/>
          </a:prstGeom>
          <a:solidFill>
            <a:srgbClr val="191F2D"/>
          </a:solidFill>
          <a:ln>
            <a:solidFill>
              <a:srgbClr val="2128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10512" y="1645920"/>
            <a:ext cx="1271016" cy="10698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10" b="1">
                <a:solidFill>
                  <a:srgbClr val="F3F7FA"/>
                </a:solidFill>
              </a:rPr>
              <a:t>EventEngine</a:t>
            </a:r>
          </a:p>
          <a:p>
            <a:pPr algn="ctr"/>
            <a:r>
              <a:rPr sz="770">
                <a:solidFill>
                  <a:srgbClr val="F3F7FA"/>
                </a:solidFill>
              </a:rPr>
              <a:t>统一事件总线
时间推进</a:t>
            </a:r>
          </a:p>
        </p:txBody>
      </p:sp>
      <p:sp>
        <p:nvSpPr>
          <p:cNvPr id="9" name="Chevron 8"/>
          <p:cNvSpPr/>
          <p:nvPr/>
        </p:nvSpPr>
        <p:spPr>
          <a:xfrm>
            <a:off x="3168396" y="2052828"/>
            <a:ext cx="82296" cy="237744"/>
          </a:xfrm>
          <a:prstGeom prst="chevron">
            <a:avLst/>
          </a:prstGeom>
          <a:solidFill>
            <a:srgbClr val="81D3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200400" y="1554480"/>
            <a:ext cx="1417320" cy="1234440"/>
          </a:xfrm>
          <a:prstGeom prst="roundRect">
            <a:avLst/>
          </a:prstGeom>
          <a:solidFill>
            <a:srgbClr val="191F2D"/>
          </a:solidFill>
          <a:ln>
            <a:solidFill>
              <a:srgbClr val="2128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73552" y="1645920"/>
            <a:ext cx="1271016" cy="10698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10" b="1">
                <a:solidFill>
                  <a:srgbClr val="F3F7FA"/>
                </a:solidFill>
              </a:rPr>
              <a:t>Strategy</a:t>
            </a:r>
          </a:p>
          <a:p>
            <a:pPr algn="ctr"/>
            <a:r>
              <a:rPr sz="770">
                <a:solidFill>
                  <a:srgbClr val="F3F7FA"/>
                </a:solidFill>
              </a:rPr>
              <a:t>on_bar/on_tick
生成订单意图</a:t>
            </a:r>
          </a:p>
        </p:txBody>
      </p:sp>
      <p:sp>
        <p:nvSpPr>
          <p:cNvPr id="12" name="Chevron 11"/>
          <p:cNvSpPr/>
          <p:nvPr/>
        </p:nvSpPr>
        <p:spPr>
          <a:xfrm>
            <a:off x="4631436" y="2052828"/>
            <a:ext cx="82296" cy="237744"/>
          </a:xfrm>
          <a:prstGeom prst="chevron">
            <a:avLst/>
          </a:prstGeom>
          <a:solidFill>
            <a:srgbClr val="81D3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663440" y="1554480"/>
            <a:ext cx="1417320" cy="1234440"/>
          </a:xfrm>
          <a:prstGeom prst="roundRect">
            <a:avLst/>
          </a:prstGeom>
          <a:solidFill>
            <a:srgbClr val="5B4927"/>
          </a:solidFill>
          <a:ln>
            <a:solidFill>
              <a:srgbClr val="2128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36592" y="1645920"/>
            <a:ext cx="1271016" cy="10698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10" b="1">
                <a:solidFill>
                  <a:srgbClr val="F3F7FA"/>
                </a:solidFill>
              </a:rPr>
              <a:t>RiskManager</a:t>
            </a:r>
          </a:p>
          <a:p>
            <a:pPr algn="ctr"/>
            <a:r>
              <a:rPr sz="770">
                <a:solidFill>
                  <a:srgbClr val="F3F7FA"/>
                </a:solidFill>
              </a:rPr>
              <a:t>预交易检查
限仓/T+1/资金</a:t>
            </a:r>
          </a:p>
        </p:txBody>
      </p:sp>
      <p:sp>
        <p:nvSpPr>
          <p:cNvPr id="15" name="Chevron 14"/>
          <p:cNvSpPr/>
          <p:nvPr/>
        </p:nvSpPr>
        <p:spPr>
          <a:xfrm>
            <a:off x="6094476" y="2052828"/>
            <a:ext cx="82296" cy="237744"/>
          </a:xfrm>
          <a:prstGeom prst="chevron">
            <a:avLst/>
          </a:prstGeom>
          <a:solidFill>
            <a:srgbClr val="81D3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126480" y="1554480"/>
            <a:ext cx="1417320" cy="1234440"/>
          </a:xfrm>
          <a:prstGeom prst="roundRect">
            <a:avLst/>
          </a:prstGeom>
          <a:solidFill>
            <a:srgbClr val="5B4927"/>
          </a:solidFill>
          <a:ln>
            <a:solidFill>
              <a:srgbClr val="2128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99632" y="1645920"/>
            <a:ext cx="1271016" cy="10698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10" b="1">
                <a:solidFill>
                  <a:srgbClr val="F3F7FA"/>
                </a:solidFill>
              </a:rPr>
              <a:t>ExecutionClient</a:t>
            </a:r>
          </a:p>
          <a:p>
            <a:pPr algn="ctr"/>
            <a:r>
              <a:rPr sz="770">
                <a:solidFill>
                  <a:srgbClr val="F3F7FA"/>
                </a:solidFill>
              </a:rPr>
              <a:t>撮合/柜台
成交语义</a:t>
            </a:r>
          </a:p>
        </p:txBody>
      </p:sp>
      <p:sp>
        <p:nvSpPr>
          <p:cNvPr id="18" name="Chevron 17"/>
          <p:cNvSpPr/>
          <p:nvPr/>
        </p:nvSpPr>
        <p:spPr>
          <a:xfrm>
            <a:off x="7557516" y="2052828"/>
            <a:ext cx="82296" cy="237744"/>
          </a:xfrm>
          <a:prstGeom prst="chevron">
            <a:avLst/>
          </a:prstGeom>
          <a:solidFill>
            <a:srgbClr val="81D3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7589520" y="1554480"/>
            <a:ext cx="1417320" cy="1234440"/>
          </a:xfrm>
          <a:prstGeom prst="roundRect">
            <a:avLst/>
          </a:prstGeom>
          <a:solidFill>
            <a:srgbClr val="403658"/>
          </a:solidFill>
          <a:ln>
            <a:solidFill>
              <a:srgbClr val="2128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662672" y="1645920"/>
            <a:ext cx="1271016" cy="10698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10" b="1">
                <a:solidFill>
                  <a:srgbClr val="F3F7FA"/>
                </a:solidFill>
              </a:rPr>
              <a:t>Portfolio</a:t>
            </a:r>
          </a:p>
          <a:p>
            <a:pPr algn="ctr"/>
            <a:r>
              <a:rPr sz="770">
                <a:solidFill>
                  <a:srgbClr val="F3F7FA"/>
                </a:solidFill>
              </a:rPr>
              <a:t>持仓/现金
权益更新</a:t>
            </a:r>
          </a:p>
        </p:txBody>
      </p:sp>
      <p:sp>
        <p:nvSpPr>
          <p:cNvPr id="21" name="Chevron 20"/>
          <p:cNvSpPr/>
          <p:nvPr/>
        </p:nvSpPr>
        <p:spPr>
          <a:xfrm>
            <a:off x="9020556" y="2052828"/>
            <a:ext cx="82296" cy="237744"/>
          </a:xfrm>
          <a:prstGeom prst="chevron">
            <a:avLst/>
          </a:prstGeom>
          <a:solidFill>
            <a:srgbClr val="81D3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9052560" y="1554480"/>
            <a:ext cx="1417320" cy="1234440"/>
          </a:xfrm>
          <a:prstGeom prst="roundRect">
            <a:avLst/>
          </a:prstGeom>
          <a:solidFill>
            <a:srgbClr val="403658"/>
          </a:solidFill>
          <a:ln>
            <a:solidFill>
              <a:srgbClr val="2128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25712" y="1645920"/>
            <a:ext cx="1271016" cy="10698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10" b="1">
                <a:solidFill>
                  <a:srgbClr val="F3F7FA"/>
                </a:solidFill>
              </a:rPr>
              <a:t>Warm Start</a:t>
            </a:r>
          </a:p>
          <a:p>
            <a:pPr algn="ctr"/>
            <a:r>
              <a:rPr sz="770">
                <a:solidFill>
                  <a:srgbClr val="F3F7FA"/>
                </a:solidFill>
              </a:rPr>
              <a:t>checkpoint
重启恢复</a:t>
            </a:r>
          </a:p>
        </p:txBody>
      </p:sp>
      <p:sp>
        <p:nvSpPr>
          <p:cNvPr id="24" name="Chevron 23"/>
          <p:cNvSpPr/>
          <p:nvPr/>
        </p:nvSpPr>
        <p:spPr>
          <a:xfrm>
            <a:off x="10483596" y="2052828"/>
            <a:ext cx="82296" cy="237744"/>
          </a:xfrm>
          <a:prstGeom prst="chevron">
            <a:avLst/>
          </a:prstGeom>
          <a:solidFill>
            <a:srgbClr val="81D3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10515600" y="1554480"/>
            <a:ext cx="1417320" cy="1234440"/>
          </a:xfrm>
          <a:prstGeom prst="roundRect">
            <a:avLst/>
          </a:prstGeom>
          <a:solidFill>
            <a:srgbClr val="403658"/>
          </a:solidFill>
          <a:ln>
            <a:solidFill>
              <a:srgbClr val="2128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588752" y="1645920"/>
            <a:ext cx="1271016" cy="10698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10" b="1">
                <a:solidFill>
                  <a:srgbClr val="F3F7FA"/>
                </a:solidFill>
              </a:rPr>
              <a:t>Monitor/Live</a:t>
            </a:r>
          </a:p>
          <a:p>
            <a:pPr algn="ctr"/>
            <a:r>
              <a:rPr sz="770">
                <a:solidFill>
                  <a:srgbClr val="F3F7FA"/>
                </a:solidFill>
              </a:rPr>
              <a:t>日志/告警
主备/流式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48640" y="3200400"/>
            <a:ext cx="10972800" cy="2377440"/>
          </a:xfrm>
          <a:prstGeom prst="roundRect">
            <a:avLst/>
          </a:prstGeom>
          <a:solidFill>
            <a:srgbClr val="191F2D"/>
          </a:solidFill>
          <a:ln w="12700">
            <a:solidFill>
              <a:srgbClr val="2128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13232" y="3273552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81D3F8"/>
                </a:solidFill>
              </a:rPr>
              <a:t>原理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" y="3547872"/>
            <a:ext cx="10469880" cy="182880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F3F7FA"/>
                </a:solidFill>
              </a:defRPr>
            </a:pPr>
            <a:r>
              <a:t>Strategy 只决定想下什么单，RiskManager 在引擎层独立拦截，ExecutionClient 负责成交语义，Portfolio 负责状态更新。</a:t>
            </a:r>
          </a:p>
          <a:p>
            <a:pPr>
              <a:spcAft>
                <a:spcPts val="400"/>
              </a:spcAft>
              <a:defRPr sz="1100">
                <a:solidFill>
                  <a:srgbClr val="F3F7FA"/>
                </a:solidFill>
              </a:defRPr>
            </a:pPr>
            <a:r>
              <a:t>这种拆法的价值是：研究逻辑、风控逻辑、成交逻辑、账户逻辑互不污染，才适合走向实盘。</a:t>
            </a:r>
          </a:p>
          <a:p>
            <a:pPr>
              <a:spcAft>
                <a:spcPts val="400"/>
              </a:spcAft>
              <a:defRPr sz="1100">
                <a:solidFill>
                  <a:srgbClr val="F3F7FA"/>
                </a:solidFill>
              </a:defRPr>
            </a:pPr>
            <a:r>
              <a:t>Warm Start 和 live orchestration 解决的是‘系统不能死、死了能接着跑’的问题。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966960" y="6400800"/>
            <a:ext cx="14630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B0BCCC"/>
                </a:solidFill>
              </a:rPr>
              <a:t>10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893808" y="6336792"/>
            <a:ext cx="1645920" cy="292608"/>
          </a:xfrm>
          <a:prstGeom prst="rect">
            <a:avLst/>
          </a:prstGeom>
          <a:solidFill>
            <a:srgbClr val="0E12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966960" y="6400800"/>
            <a:ext cx="14630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B0BCCC"/>
                </a:solidFill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2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0881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3F7FA"/>
                </a:solidFill>
              </a:rPr>
              <a:t>vn.py 流程图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6868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>
                <a:solidFill>
                  <a:srgbClr val="B0BCCC"/>
                </a:solidFill>
              </a:rPr>
              <a:t>它是最成熟的实盘平台型参考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1554480"/>
            <a:ext cx="1417320" cy="1234440"/>
          </a:xfrm>
          <a:prstGeom prst="roundRect">
            <a:avLst/>
          </a:prstGeom>
          <a:solidFill>
            <a:srgbClr val="191F2D"/>
          </a:solidFill>
          <a:ln>
            <a:solidFill>
              <a:srgbClr val="2128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47472" y="1645920"/>
            <a:ext cx="1271016" cy="10698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10" b="1">
                <a:solidFill>
                  <a:srgbClr val="F3F7FA"/>
                </a:solidFill>
              </a:rPr>
              <a:t>Data/Gateway</a:t>
            </a:r>
          </a:p>
          <a:p>
            <a:pPr algn="ctr"/>
            <a:r>
              <a:rPr sz="770">
                <a:solidFill>
                  <a:srgbClr val="F3F7FA"/>
                </a:solidFill>
              </a:rPr>
              <a:t>行情接口
柜台接口</a:t>
            </a:r>
          </a:p>
        </p:txBody>
      </p:sp>
      <p:sp>
        <p:nvSpPr>
          <p:cNvPr id="6" name="Chevron 5"/>
          <p:cNvSpPr/>
          <p:nvPr/>
        </p:nvSpPr>
        <p:spPr>
          <a:xfrm>
            <a:off x="1705356" y="2052828"/>
            <a:ext cx="82296" cy="237744"/>
          </a:xfrm>
          <a:prstGeom prst="chevron">
            <a:avLst/>
          </a:prstGeom>
          <a:solidFill>
            <a:srgbClr val="81D3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737360" y="1554480"/>
            <a:ext cx="1417320" cy="1234440"/>
          </a:xfrm>
          <a:prstGeom prst="roundRect">
            <a:avLst/>
          </a:prstGeom>
          <a:solidFill>
            <a:srgbClr val="191F2D"/>
          </a:solidFill>
          <a:ln>
            <a:solidFill>
              <a:srgbClr val="2128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10512" y="1645920"/>
            <a:ext cx="1271016" cy="10698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10" b="1">
                <a:solidFill>
                  <a:srgbClr val="F3F7FA"/>
                </a:solidFill>
              </a:rPr>
              <a:t>Event Engine</a:t>
            </a:r>
          </a:p>
          <a:p>
            <a:pPr algn="ctr"/>
            <a:r>
              <a:rPr sz="770">
                <a:solidFill>
                  <a:srgbClr val="F3F7FA"/>
                </a:solidFill>
              </a:rPr>
              <a:t>事件驱动
统一分发</a:t>
            </a:r>
          </a:p>
        </p:txBody>
      </p:sp>
      <p:sp>
        <p:nvSpPr>
          <p:cNvPr id="9" name="Chevron 8"/>
          <p:cNvSpPr/>
          <p:nvPr/>
        </p:nvSpPr>
        <p:spPr>
          <a:xfrm>
            <a:off x="3168396" y="2052828"/>
            <a:ext cx="82296" cy="237744"/>
          </a:xfrm>
          <a:prstGeom prst="chevron">
            <a:avLst/>
          </a:prstGeom>
          <a:solidFill>
            <a:srgbClr val="81D3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200400" y="1554480"/>
            <a:ext cx="1417320" cy="1234440"/>
          </a:xfrm>
          <a:prstGeom prst="roundRect">
            <a:avLst/>
          </a:prstGeom>
          <a:solidFill>
            <a:srgbClr val="191F2D"/>
          </a:solidFill>
          <a:ln>
            <a:solidFill>
              <a:srgbClr val="2128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73552" y="1645920"/>
            <a:ext cx="1271016" cy="10698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10" b="1">
                <a:solidFill>
                  <a:srgbClr val="F3F7FA"/>
                </a:solidFill>
              </a:rPr>
              <a:t>App/Strategy</a:t>
            </a:r>
          </a:p>
          <a:p>
            <a:pPr algn="ctr"/>
            <a:r>
              <a:rPr sz="770">
                <a:solidFill>
                  <a:srgbClr val="F3F7FA"/>
                </a:solidFill>
              </a:rPr>
              <a:t>CTA/组合/脚本
交易应用</a:t>
            </a:r>
          </a:p>
        </p:txBody>
      </p:sp>
      <p:sp>
        <p:nvSpPr>
          <p:cNvPr id="12" name="Chevron 11"/>
          <p:cNvSpPr/>
          <p:nvPr/>
        </p:nvSpPr>
        <p:spPr>
          <a:xfrm>
            <a:off x="4631436" y="2052828"/>
            <a:ext cx="82296" cy="237744"/>
          </a:xfrm>
          <a:prstGeom prst="chevron">
            <a:avLst/>
          </a:prstGeom>
          <a:solidFill>
            <a:srgbClr val="81D3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663440" y="1554480"/>
            <a:ext cx="1417320" cy="1234440"/>
          </a:xfrm>
          <a:prstGeom prst="roundRect">
            <a:avLst/>
          </a:prstGeom>
          <a:solidFill>
            <a:srgbClr val="191F2D"/>
          </a:solidFill>
          <a:ln>
            <a:solidFill>
              <a:srgbClr val="2128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36592" y="1645920"/>
            <a:ext cx="1271016" cy="10698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10" b="1">
                <a:solidFill>
                  <a:srgbClr val="F3F7FA"/>
                </a:solidFill>
              </a:rPr>
              <a:t>OMS</a:t>
            </a:r>
          </a:p>
          <a:p>
            <a:pPr algn="ctr"/>
            <a:r>
              <a:rPr sz="770">
                <a:solidFill>
                  <a:srgbClr val="F3F7FA"/>
                </a:solidFill>
              </a:rPr>
              <a:t>订单状态机
报撤单生命周期</a:t>
            </a:r>
          </a:p>
        </p:txBody>
      </p:sp>
      <p:sp>
        <p:nvSpPr>
          <p:cNvPr id="15" name="Chevron 14"/>
          <p:cNvSpPr/>
          <p:nvPr/>
        </p:nvSpPr>
        <p:spPr>
          <a:xfrm>
            <a:off x="6094476" y="2052828"/>
            <a:ext cx="82296" cy="237744"/>
          </a:xfrm>
          <a:prstGeom prst="chevron">
            <a:avLst/>
          </a:prstGeom>
          <a:solidFill>
            <a:srgbClr val="81D3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126480" y="1554480"/>
            <a:ext cx="1417320" cy="1234440"/>
          </a:xfrm>
          <a:prstGeom prst="roundRect">
            <a:avLst/>
          </a:prstGeom>
          <a:solidFill>
            <a:srgbClr val="191F2D"/>
          </a:solidFill>
          <a:ln>
            <a:solidFill>
              <a:srgbClr val="2128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99632" y="1645920"/>
            <a:ext cx="1271016" cy="10698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10" b="1">
                <a:solidFill>
                  <a:srgbClr val="F3F7FA"/>
                </a:solidFill>
              </a:rPr>
              <a:t>RMS</a:t>
            </a:r>
          </a:p>
          <a:p>
            <a:pPr algn="ctr"/>
            <a:r>
              <a:rPr sz="770">
                <a:solidFill>
                  <a:srgbClr val="F3F7FA"/>
                </a:solidFill>
              </a:rPr>
              <a:t>风控规则
前端限制</a:t>
            </a:r>
          </a:p>
        </p:txBody>
      </p:sp>
      <p:sp>
        <p:nvSpPr>
          <p:cNvPr id="18" name="Chevron 17"/>
          <p:cNvSpPr/>
          <p:nvPr/>
        </p:nvSpPr>
        <p:spPr>
          <a:xfrm>
            <a:off x="7557516" y="2052828"/>
            <a:ext cx="82296" cy="237744"/>
          </a:xfrm>
          <a:prstGeom prst="chevron">
            <a:avLst/>
          </a:prstGeom>
          <a:solidFill>
            <a:srgbClr val="81D3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7589520" y="1554480"/>
            <a:ext cx="1417320" cy="1234440"/>
          </a:xfrm>
          <a:prstGeom prst="roundRect">
            <a:avLst/>
          </a:prstGeom>
          <a:solidFill>
            <a:srgbClr val="191F2D"/>
          </a:solidFill>
          <a:ln>
            <a:solidFill>
              <a:srgbClr val="2128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662672" y="1645920"/>
            <a:ext cx="1271016" cy="10698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10" b="1">
                <a:solidFill>
                  <a:srgbClr val="F3F7FA"/>
                </a:solidFill>
              </a:rPr>
              <a:t>Algo Trading</a:t>
            </a:r>
          </a:p>
          <a:p>
            <a:pPr algn="ctr"/>
            <a:r>
              <a:rPr sz="770">
                <a:solidFill>
                  <a:srgbClr val="F3F7FA"/>
                </a:solidFill>
              </a:rPr>
              <a:t>TWAP/Iceberg
智能拆单</a:t>
            </a:r>
          </a:p>
        </p:txBody>
      </p:sp>
      <p:sp>
        <p:nvSpPr>
          <p:cNvPr id="21" name="Chevron 20"/>
          <p:cNvSpPr/>
          <p:nvPr/>
        </p:nvSpPr>
        <p:spPr>
          <a:xfrm>
            <a:off x="9020556" y="2052828"/>
            <a:ext cx="82296" cy="237744"/>
          </a:xfrm>
          <a:prstGeom prst="chevron">
            <a:avLst/>
          </a:prstGeom>
          <a:solidFill>
            <a:srgbClr val="81D3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9052560" y="1554480"/>
            <a:ext cx="1417320" cy="1234440"/>
          </a:xfrm>
          <a:prstGeom prst="roundRect">
            <a:avLst/>
          </a:prstGeom>
          <a:solidFill>
            <a:srgbClr val="191F2D"/>
          </a:solidFill>
          <a:ln>
            <a:solidFill>
              <a:srgbClr val="2128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25712" y="1645920"/>
            <a:ext cx="1271016" cy="10698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10" b="1">
                <a:solidFill>
                  <a:srgbClr val="F3F7FA"/>
                </a:solidFill>
              </a:rPr>
              <a:t>Recorder/Manager</a:t>
            </a:r>
          </a:p>
          <a:p>
            <a:pPr algn="ctr"/>
            <a:r>
              <a:rPr sz="770">
                <a:solidFill>
                  <a:srgbClr val="F3F7FA"/>
                </a:solidFill>
              </a:rPr>
              <a:t>数据落库
组合统计</a:t>
            </a:r>
          </a:p>
        </p:txBody>
      </p:sp>
      <p:sp>
        <p:nvSpPr>
          <p:cNvPr id="24" name="Chevron 23"/>
          <p:cNvSpPr/>
          <p:nvPr/>
        </p:nvSpPr>
        <p:spPr>
          <a:xfrm>
            <a:off x="10483596" y="2052828"/>
            <a:ext cx="82296" cy="237744"/>
          </a:xfrm>
          <a:prstGeom prst="chevron">
            <a:avLst/>
          </a:prstGeom>
          <a:solidFill>
            <a:srgbClr val="81D3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10515600" y="1554480"/>
            <a:ext cx="1417320" cy="1234440"/>
          </a:xfrm>
          <a:prstGeom prst="roundRect">
            <a:avLst/>
          </a:prstGeom>
          <a:solidFill>
            <a:srgbClr val="191F2D"/>
          </a:solidFill>
          <a:ln>
            <a:solidFill>
              <a:srgbClr val="2128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588752" y="1645920"/>
            <a:ext cx="1271016" cy="10698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10" b="1">
                <a:solidFill>
                  <a:srgbClr val="F3F7FA"/>
                </a:solidFill>
              </a:rPr>
              <a:t>Web/RPC</a:t>
            </a:r>
          </a:p>
          <a:p>
            <a:pPr algn="ctr"/>
            <a:r>
              <a:rPr sz="770">
                <a:solidFill>
                  <a:srgbClr val="F3F7FA"/>
                </a:solidFill>
              </a:rPr>
              <a:t>分布式接入
运维界面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48640" y="3200400"/>
            <a:ext cx="10972800" cy="2377440"/>
          </a:xfrm>
          <a:prstGeom prst="roundRect">
            <a:avLst/>
          </a:prstGeom>
          <a:solidFill>
            <a:srgbClr val="191F2D"/>
          </a:solidFill>
          <a:ln w="12700">
            <a:solidFill>
              <a:srgbClr val="2128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13232" y="3273552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81D3F8"/>
                </a:solidFill>
              </a:rPr>
              <a:t>原理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" y="3547872"/>
            <a:ext cx="10469880" cy="182880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F3F7FA"/>
                </a:solidFill>
              </a:defRPr>
            </a:pPr>
            <a:r>
              <a:t>核心是‘平台先行’：先有 gateway、event、OMS、RMS、app，再让不同策略往里挂。</a:t>
            </a:r>
          </a:p>
          <a:p>
            <a:pPr>
              <a:spcAft>
                <a:spcPts val="400"/>
              </a:spcAft>
              <a:defRPr sz="1100">
                <a:solidFill>
                  <a:srgbClr val="F3F7FA"/>
                </a:solidFill>
              </a:defRPr>
            </a:pPr>
            <a:r>
              <a:t>vnpy.alpha 则把研究端补上：dataset -&gt; model -&gt; signal -&gt; strategy backtest，与主交易平台衔接。</a:t>
            </a:r>
          </a:p>
          <a:p>
            <a:pPr>
              <a:spcAft>
                <a:spcPts val="400"/>
              </a:spcAft>
              <a:defRPr sz="1100">
                <a:solidFill>
                  <a:srgbClr val="F3F7FA"/>
                </a:solidFill>
              </a:defRPr>
            </a:pPr>
            <a:r>
              <a:t>这类系统的优势是稳定、接口丰富、生产化强，但研发自由度比研究原型低。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966960" y="6400800"/>
            <a:ext cx="14630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B0BCCC"/>
                </a:solidFill>
              </a:rPr>
              <a:t>11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893808" y="6336792"/>
            <a:ext cx="1645920" cy="292608"/>
          </a:xfrm>
          <a:prstGeom prst="rect">
            <a:avLst/>
          </a:prstGeom>
          <a:solidFill>
            <a:srgbClr val="0E12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966960" y="6400800"/>
            <a:ext cx="14630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B0BCCC"/>
                </a:solidFill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2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0881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3F7FA"/>
                </a:solidFill>
              </a:rPr>
              <a:t>a-stock-data 流程图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6868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>
                <a:solidFill>
                  <a:srgbClr val="B0BCCC"/>
                </a:solidFill>
              </a:rPr>
              <a:t>它不是交易引擎，而是 A 股研究信息层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1554480"/>
            <a:ext cx="1417320" cy="1234440"/>
          </a:xfrm>
          <a:prstGeom prst="roundRect">
            <a:avLst/>
          </a:prstGeom>
          <a:solidFill>
            <a:srgbClr val="191F2D"/>
          </a:solidFill>
          <a:ln>
            <a:solidFill>
              <a:srgbClr val="2128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47472" y="1645920"/>
            <a:ext cx="1271016" cy="10698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10" b="1">
                <a:solidFill>
                  <a:srgbClr val="F3F7FA"/>
                </a:solidFill>
              </a:rPr>
              <a:t>行情层</a:t>
            </a:r>
          </a:p>
          <a:p>
            <a:pPr algn="ctr"/>
            <a:r>
              <a:rPr sz="770">
                <a:solidFill>
                  <a:srgbClr val="F3F7FA"/>
                </a:solidFill>
              </a:rPr>
              <a:t>K线/盘口
PE/PB/换手</a:t>
            </a:r>
          </a:p>
        </p:txBody>
      </p:sp>
      <p:sp>
        <p:nvSpPr>
          <p:cNvPr id="6" name="Chevron 5"/>
          <p:cNvSpPr/>
          <p:nvPr/>
        </p:nvSpPr>
        <p:spPr>
          <a:xfrm>
            <a:off x="1705356" y="2052828"/>
            <a:ext cx="82296" cy="237744"/>
          </a:xfrm>
          <a:prstGeom prst="chevron">
            <a:avLst/>
          </a:prstGeom>
          <a:solidFill>
            <a:srgbClr val="81D3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737360" y="1554480"/>
            <a:ext cx="1417320" cy="1234440"/>
          </a:xfrm>
          <a:prstGeom prst="roundRect">
            <a:avLst/>
          </a:prstGeom>
          <a:solidFill>
            <a:srgbClr val="191F2D"/>
          </a:solidFill>
          <a:ln>
            <a:solidFill>
              <a:srgbClr val="2128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10512" y="1645920"/>
            <a:ext cx="1271016" cy="10698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10" b="1">
                <a:solidFill>
                  <a:srgbClr val="F3F7FA"/>
                </a:solidFill>
              </a:rPr>
              <a:t>研报层</a:t>
            </a:r>
          </a:p>
          <a:p>
            <a:pPr algn="ctr"/>
            <a:r>
              <a:rPr sz="770">
                <a:solidFill>
                  <a:srgbClr val="F3F7FA"/>
                </a:solidFill>
              </a:rPr>
              <a:t>研报列表/PDF
一致预期</a:t>
            </a:r>
          </a:p>
        </p:txBody>
      </p:sp>
      <p:sp>
        <p:nvSpPr>
          <p:cNvPr id="9" name="Chevron 8"/>
          <p:cNvSpPr/>
          <p:nvPr/>
        </p:nvSpPr>
        <p:spPr>
          <a:xfrm>
            <a:off x="3168396" y="2052828"/>
            <a:ext cx="82296" cy="237744"/>
          </a:xfrm>
          <a:prstGeom prst="chevron">
            <a:avLst/>
          </a:prstGeom>
          <a:solidFill>
            <a:srgbClr val="81D3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200400" y="1554480"/>
            <a:ext cx="1417320" cy="1234440"/>
          </a:xfrm>
          <a:prstGeom prst="roundRect">
            <a:avLst/>
          </a:prstGeom>
          <a:solidFill>
            <a:srgbClr val="191F2D"/>
          </a:solidFill>
          <a:ln>
            <a:solidFill>
              <a:srgbClr val="2128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73552" y="1645920"/>
            <a:ext cx="1271016" cy="10698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10" b="1">
                <a:solidFill>
                  <a:srgbClr val="F3F7FA"/>
                </a:solidFill>
              </a:rPr>
              <a:t>信号层</a:t>
            </a:r>
          </a:p>
          <a:p>
            <a:pPr algn="ctr"/>
            <a:r>
              <a:rPr sz="770">
                <a:solidFill>
                  <a:srgbClr val="F3F7FA"/>
                </a:solidFill>
              </a:rPr>
              <a:t>热点/题材
北向/龙虎榜</a:t>
            </a:r>
          </a:p>
        </p:txBody>
      </p:sp>
      <p:sp>
        <p:nvSpPr>
          <p:cNvPr id="12" name="Chevron 11"/>
          <p:cNvSpPr/>
          <p:nvPr/>
        </p:nvSpPr>
        <p:spPr>
          <a:xfrm>
            <a:off x="4631436" y="2052828"/>
            <a:ext cx="82296" cy="237744"/>
          </a:xfrm>
          <a:prstGeom prst="chevron">
            <a:avLst/>
          </a:prstGeom>
          <a:solidFill>
            <a:srgbClr val="81D3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663440" y="1554480"/>
            <a:ext cx="1417320" cy="1234440"/>
          </a:xfrm>
          <a:prstGeom prst="roundRect">
            <a:avLst/>
          </a:prstGeom>
          <a:solidFill>
            <a:srgbClr val="191F2D"/>
          </a:solidFill>
          <a:ln>
            <a:solidFill>
              <a:srgbClr val="2128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36592" y="1645920"/>
            <a:ext cx="1271016" cy="10698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10" b="1">
                <a:solidFill>
                  <a:srgbClr val="F3F7FA"/>
                </a:solidFill>
              </a:rPr>
              <a:t>新闻层</a:t>
            </a:r>
          </a:p>
          <a:p>
            <a:pPr algn="ctr"/>
            <a:r>
              <a:rPr sz="770">
                <a:solidFill>
                  <a:srgbClr val="F3F7FA"/>
                </a:solidFill>
              </a:rPr>
              <a:t>个股/快讯
全球资讯</a:t>
            </a:r>
          </a:p>
        </p:txBody>
      </p:sp>
      <p:sp>
        <p:nvSpPr>
          <p:cNvPr id="15" name="Chevron 14"/>
          <p:cNvSpPr/>
          <p:nvPr/>
        </p:nvSpPr>
        <p:spPr>
          <a:xfrm>
            <a:off x="6094476" y="2052828"/>
            <a:ext cx="82296" cy="237744"/>
          </a:xfrm>
          <a:prstGeom prst="chevron">
            <a:avLst/>
          </a:prstGeom>
          <a:solidFill>
            <a:srgbClr val="81D3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126480" y="1554480"/>
            <a:ext cx="1417320" cy="1234440"/>
          </a:xfrm>
          <a:prstGeom prst="roundRect">
            <a:avLst/>
          </a:prstGeom>
          <a:solidFill>
            <a:srgbClr val="191F2D"/>
          </a:solidFill>
          <a:ln>
            <a:solidFill>
              <a:srgbClr val="2128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99632" y="1645920"/>
            <a:ext cx="1271016" cy="10698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10" b="1">
                <a:solidFill>
                  <a:srgbClr val="F3F7FA"/>
                </a:solidFill>
              </a:rPr>
              <a:t>基础层</a:t>
            </a:r>
          </a:p>
          <a:p>
            <a:pPr algn="ctr"/>
            <a:r>
              <a:rPr sz="770">
                <a:solidFill>
                  <a:srgbClr val="F3F7FA"/>
                </a:solidFill>
              </a:rPr>
              <a:t>F10/季报
公司资料</a:t>
            </a:r>
          </a:p>
        </p:txBody>
      </p:sp>
      <p:sp>
        <p:nvSpPr>
          <p:cNvPr id="18" name="Chevron 17"/>
          <p:cNvSpPr/>
          <p:nvPr/>
        </p:nvSpPr>
        <p:spPr>
          <a:xfrm>
            <a:off x="7557516" y="2052828"/>
            <a:ext cx="82296" cy="237744"/>
          </a:xfrm>
          <a:prstGeom prst="chevron">
            <a:avLst/>
          </a:prstGeom>
          <a:solidFill>
            <a:srgbClr val="81D3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7589520" y="1554480"/>
            <a:ext cx="1417320" cy="1234440"/>
          </a:xfrm>
          <a:prstGeom prst="roundRect">
            <a:avLst/>
          </a:prstGeom>
          <a:solidFill>
            <a:srgbClr val="191F2D"/>
          </a:solidFill>
          <a:ln>
            <a:solidFill>
              <a:srgbClr val="2128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662672" y="1645920"/>
            <a:ext cx="1271016" cy="10698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10" b="1">
                <a:solidFill>
                  <a:srgbClr val="F3F7FA"/>
                </a:solidFill>
              </a:rPr>
              <a:t>公告层</a:t>
            </a:r>
          </a:p>
          <a:p>
            <a:pPr algn="ctr"/>
            <a:r>
              <a:rPr sz="770">
                <a:solidFill>
                  <a:srgbClr val="F3F7FA"/>
                </a:solidFill>
              </a:rPr>
              <a:t>沪深北公告</a:t>
            </a:r>
          </a:p>
        </p:txBody>
      </p:sp>
      <p:sp>
        <p:nvSpPr>
          <p:cNvPr id="21" name="Chevron 20"/>
          <p:cNvSpPr/>
          <p:nvPr/>
        </p:nvSpPr>
        <p:spPr>
          <a:xfrm>
            <a:off x="9020556" y="2052828"/>
            <a:ext cx="82296" cy="237744"/>
          </a:xfrm>
          <a:prstGeom prst="chevron">
            <a:avLst/>
          </a:prstGeom>
          <a:solidFill>
            <a:srgbClr val="81D3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9052560" y="1554480"/>
            <a:ext cx="1417320" cy="1234440"/>
          </a:xfrm>
          <a:prstGeom prst="roundRect">
            <a:avLst/>
          </a:prstGeom>
          <a:solidFill>
            <a:srgbClr val="191F2D"/>
          </a:solidFill>
          <a:ln>
            <a:solidFill>
              <a:srgbClr val="2128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25712" y="1645920"/>
            <a:ext cx="1271016" cy="10698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10" b="1">
                <a:solidFill>
                  <a:srgbClr val="F3F7FA"/>
                </a:solidFill>
              </a:rPr>
              <a:t>研究拼装</a:t>
            </a:r>
          </a:p>
          <a:p>
            <a:pPr algn="ctr"/>
            <a:r>
              <a:rPr sz="770">
                <a:solidFill>
                  <a:srgbClr val="F3F7FA"/>
                </a:solidFill>
              </a:rPr>
              <a:t>单票调研
主题追踪</a:t>
            </a:r>
          </a:p>
        </p:txBody>
      </p:sp>
      <p:sp>
        <p:nvSpPr>
          <p:cNvPr id="24" name="Chevron 23"/>
          <p:cNvSpPr/>
          <p:nvPr/>
        </p:nvSpPr>
        <p:spPr>
          <a:xfrm>
            <a:off x="10483596" y="2052828"/>
            <a:ext cx="82296" cy="237744"/>
          </a:xfrm>
          <a:prstGeom prst="chevron">
            <a:avLst/>
          </a:prstGeom>
          <a:solidFill>
            <a:srgbClr val="81D3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10515600" y="1554480"/>
            <a:ext cx="1417320" cy="1234440"/>
          </a:xfrm>
          <a:prstGeom prst="roundRect">
            <a:avLst/>
          </a:prstGeom>
          <a:solidFill>
            <a:srgbClr val="191F2D"/>
          </a:solidFill>
          <a:ln>
            <a:solidFill>
              <a:srgbClr val="2128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588752" y="1645920"/>
            <a:ext cx="1271016" cy="10698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10" b="1">
                <a:solidFill>
                  <a:srgbClr val="F3F7FA"/>
                </a:solidFill>
              </a:rPr>
              <a:t>给上游消费</a:t>
            </a:r>
          </a:p>
          <a:p>
            <a:pPr algn="ctr"/>
            <a:r>
              <a:rPr sz="770">
                <a:solidFill>
                  <a:srgbClr val="F3F7FA"/>
                </a:solidFill>
              </a:rPr>
              <a:t>供 Agent/研究
生成解释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48640" y="3246120"/>
            <a:ext cx="10972800" cy="2240280"/>
          </a:xfrm>
          <a:prstGeom prst="roundRect">
            <a:avLst/>
          </a:prstGeom>
          <a:solidFill>
            <a:srgbClr val="191F2D"/>
          </a:solidFill>
          <a:ln w="12700">
            <a:solidFill>
              <a:srgbClr val="2128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13232" y="3319272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81D3F8"/>
                </a:solidFill>
              </a:rPr>
              <a:t>原理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" y="3584448"/>
            <a:ext cx="10469880" cy="169164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F3F7FA"/>
                </a:solidFill>
              </a:defRPr>
            </a:pPr>
            <a:r>
              <a:t>它把分散、异构、反爬复杂的 A 股信息端点封装成统一调用层，解决‘研究没数据、Agent 没上下文’的问题。</a:t>
            </a:r>
          </a:p>
          <a:p>
            <a:pPr>
              <a:spcAft>
                <a:spcPts val="400"/>
              </a:spcAft>
              <a:defRPr sz="1100">
                <a:solidFill>
                  <a:srgbClr val="F3F7FA"/>
                </a:solidFill>
              </a:defRPr>
            </a:pPr>
            <a:r>
              <a:t>对 USalpha 的价值不是回测，而是补齐解释性研究材料、题材/资金/公告等弱结构化信息。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966960" y="6400800"/>
            <a:ext cx="14630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B0BCCC"/>
                </a:solidFill>
              </a:rPr>
              <a:t>12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893808" y="6336792"/>
            <a:ext cx="1645920" cy="292608"/>
          </a:xfrm>
          <a:prstGeom prst="rect">
            <a:avLst/>
          </a:prstGeom>
          <a:solidFill>
            <a:srgbClr val="0E12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966960" y="6400800"/>
            <a:ext cx="14630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B0BCCC"/>
                </a:solidFill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2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0881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3F7FA"/>
                </a:solidFill>
              </a:rPr>
              <a:t>Kronos 流程图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6868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>
                <a:solidFill>
                  <a:srgbClr val="B0BCCC"/>
                </a:solidFill>
              </a:rPr>
              <a:t>它提供的是时序基础模型，不是交易框架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1554480"/>
            <a:ext cx="1417320" cy="1234440"/>
          </a:xfrm>
          <a:prstGeom prst="roundRect">
            <a:avLst/>
          </a:prstGeom>
          <a:solidFill>
            <a:srgbClr val="191F2D"/>
          </a:solidFill>
          <a:ln>
            <a:solidFill>
              <a:srgbClr val="2128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47472" y="1645920"/>
            <a:ext cx="1271016" cy="10698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3F7FA"/>
                </a:solidFill>
              </a:rPr>
              <a:t>K线数据</a:t>
            </a:r>
          </a:p>
          <a:p>
            <a:pPr algn="ctr"/>
            <a:r>
              <a:rPr sz="760">
                <a:solidFill>
                  <a:srgbClr val="F3F7FA"/>
                </a:solidFill>
              </a:rPr>
              <a:t>OHLCV
多市场</a:t>
            </a:r>
          </a:p>
        </p:txBody>
      </p:sp>
      <p:sp>
        <p:nvSpPr>
          <p:cNvPr id="6" name="Chevron 5"/>
          <p:cNvSpPr/>
          <p:nvPr/>
        </p:nvSpPr>
        <p:spPr>
          <a:xfrm>
            <a:off x="1705356" y="2052828"/>
            <a:ext cx="82296" cy="237744"/>
          </a:xfrm>
          <a:prstGeom prst="chevron">
            <a:avLst/>
          </a:prstGeom>
          <a:solidFill>
            <a:srgbClr val="81D3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737360" y="1554480"/>
            <a:ext cx="1417320" cy="1234440"/>
          </a:xfrm>
          <a:prstGeom prst="roundRect">
            <a:avLst/>
          </a:prstGeom>
          <a:solidFill>
            <a:srgbClr val="191F2D"/>
          </a:solidFill>
          <a:ln>
            <a:solidFill>
              <a:srgbClr val="2128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10512" y="1645920"/>
            <a:ext cx="1271016" cy="10698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3F7FA"/>
                </a:solidFill>
              </a:rPr>
              <a:t>Tokenizer</a:t>
            </a:r>
          </a:p>
          <a:p>
            <a:pPr algn="ctr"/>
            <a:r>
              <a:rPr sz="760">
                <a:solidFill>
                  <a:srgbClr val="F3F7FA"/>
                </a:solidFill>
              </a:rPr>
              <a:t>连续值量化成
层级离散token</a:t>
            </a:r>
          </a:p>
        </p:txBody>
      </p:sp>
      <p:sp>
        <p:nvSpPr>
          <p:cNvPr id="9" name="Chevron 8"/>
          <p:cNvSpPr/>
          <p:nvPr/>
        </p:nvSpPr>
        <p:spPr>
          <a:xfrm>
            <a:off x="3168396" y="2052828"/>
            <a:ext cx="82296" cy="237744"/>
          </a:xfrm>
          <a:prstGeom prst="chevron">
            <a:avLst/>
          </a:prstGeom>
          <a:solidFill>
            <a:srgbClr val="81D3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200400" y="1554480"/>
            <a:ext cx="1417320" cy="1234440"/>
          </a:xfrm>
          <a:prstGeom prst="roundRect">
            <a:avLst/>
          </a:prstGeom>
          <a:solidFill>
            <a:srgbClr val="191F2D"/>
          </a:solidFill>
          <a:ln>
            <a:solidFill>
              <a:srgbClr val="2128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73552" y="1645920"/>
            <a:ext cx="1271016" cy="10698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3F7FA"/>
                </a:solidFill>
              </a:rPr>
              <a:t>预训练</a:t>
            </a:r>
          </a:p>
          <a:p>
            <a:pPr algn="ctr"/>
            <a:r>
              <a:rPr sz="760">
                <a:solidFill>
                  <a:srgbClr val="F3F7FA"/>
                </a:solidFill>
              </a:rPr>
              <a:t>自回归 Transformer
学市场语言</a:t>
            </a:r>
          </a:p>
        </p:txBody>
      </p:sp>
      <p:sp>
        <p:nvSpPr>
          <p:cNvPr id="12" name="Chevron 11"/>
          <p:cNvSpPr/>
          <p:nvPr/>
        </p:nvSpPr>
        <p:spPr>
          <a:xfrm>
            <a:off x="4631436" y="2052828"/>
            <a:ext cx="82296" cy="237744"/>
          </a:xfrm>
          <a:prstGeom prst="chevron">
            <a:avLst/>
          </a:prstGeom>
          <a:solidFill>
            <a:srgbClr val="81D3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663440" y="1554480"/>
            <a:ext cx="1417320" cy="1234440"/>
          </a:xfrm>
          <a:prstGeom prst="roundRect">
            <a:avLst/>
          </a:prstGeom>
          <a:solidFill>
            <a:srgbClr val="191F2D"/>
          </a:solidFill>
          <a:ln>
            <a:solidFill>
              <a:srgbClr val="2128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36592" y="1645920"/>
            <a:ext cx="1271016" cy="10698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3F7FA"/>
                </a:solidFill>
              </a:rPr>
              <a:t>预测器</a:t>
            </a:r>
          </a:p>
          <a:p>
            <a:pPr algn="ctr"/>
            <a:r>
              <a:rPr sz="760">
                <a:solidFill>
                  <a:srgbClr val="F3F7FA"/>
                </a:solidFill>
              </a:rPr>
              <a:t>future OHLCV
batch forecast</a:t>
            </a:r>
          </a:p>
        </p:txBody>
      </p:sp>
      <p:sp>
        <p:nvSpPr>
          <p:cNvPr id="15" name="Chevron 14"/>
          <p:cNvSpPr/>
          <p:nvPr/>
        </p:nvSpPr>
        <p:spPr>
          <a:xfrm>
            <a:off x="6094476" y="2052828"/>
            <a:ext cx="82296" cy="237744"/>
          </a:xfrm>
          <a:prstGeom prst="chevron">
            <a:avLst/>
          </a:prstGeom>
          <a:solidFill>
            <a:srgbClr val="81D3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126480" y="1554480"/>
            <a:ext cx="1417320" cy="1234440"/>
          </a:xfrm>
          <a:prstGeom prst="roundRect">
            <a:avLst/>
          </a:prstGeom>
          <a:solidFill>
            <a:srgbClr val="191F2D"/>
          </a:solidFill>
          <a:ln>
            <a:solidFill>
              <a:srgbClr val="2128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99632" y="1645920"/>
            <a:ext cx="1271016" cy="10698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3F7FA"/>
                </a:solidFill>
              </a:rPr>
              <a:t>微调</a:t>
            </a:r>
          </a:p>
          <a:p>
            <a:pPr algn="ctr"/>
            <a:r>
              <a:rPr sz="760">
                <a:solidFill>
                  <a:srgbClr val="F3F7FA"/>
                </a:solidFill>
              </a:rPr>
              <a:t>用本地任务
继续训练</a:t>
            </a:r>
          </a:p>
        </p:txBody>
      </p:sp>
      <p:sp>
        <p:nvSpPr>
          <p:cNvPr id="18" name="Chevron 17"/>
          <p:cNvSpPr/>
          <p:nvPr/>
        </p:nvSpPr>
        <p:spPr>
          <a:xfrm>
            <a:off x="7557516" y="2052828"/>
            <a:ext cx="82296" cy="237744"/>
          </a:xfrm>
          <a:prstGeom prst="chevron">
            <a:avLst/>
          </a:prstGeom>
          <a:solidFill>
            <a:srgbClr val="81D3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7589520" y="1554480"/>
            <a:ext cx="1417320" cy="1234440"/>
          </a:xfrm>
          <a:prstGeom prst="roundRect">
            <a:avLst/>
          </a:prstGeom>
          <a:solidFill>
            <a:srgbClr val="191F2D"/>
          </a:solidFill>
          <a:ln>
            <a:solidFill>
              <a:srgbClr val="2128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662672" y="1645920"/>
            <a:ext cx="1271016" cy="10698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3F7FA"/>
                </a:solidFill>
              </a:rPr>
              <a:t>Qlib数据预处理</a:t>
            </a:r>
          </a:p>
          <a:p>
            <a:pPr algn="ctr"/>
            <a:r>
              <a:rPr sz="760">
                <a:solidFill>
                  <a:srgbClr val="F3F7FA"/>
                </a:solidFill>
              </a:rPr>
              <a:t>prepare train/val/test</a:t>
            </a:r>
          </a:p>
        </p:txBody>
      </p:sp>
      <p:sp>
        <p:nvSpPr>
          <p:cNvPr id="21" name="Chevron 20"/>
          <p:cNvSpPr/>
          <p:nvPr/>
        </p:nvSpPr>
        <p:spPr>
          <a:xfrm>
            <a:off x="9020556" y="2052828"/>
            <a:ext cx="82296" cy="237744"/>
          </a:xfrm>
          <a:prstGeom prst="chevron">
            <a:avLst/>
          </a:prstGeom>
          <a:solidFill>
            <a:srgbClr val="81D3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9052560" y="1554480"/>
            <a:ext cx="1417320" cy="1234440"/>
          </a:xfrm>
          <a:prstGeom prst="roundRect">
            <a:avLst/>
          </a:prstGeom>
          <a:solidFill>
            <a:srgbClr val="191F2D"/>
          </a:solidFill>
          <a:ln>
            <a:solidFill>
              <a:srgbClr val="2128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25712" y="1645920"/>
            <a:ext cx="1271016" cy="10698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3F7FA"/>
                </a:solidFill>
              </a:rPr>
              <a:t>回测示例</a:t>
            </a:r>
          </a:p>
          <a:p>
            <a:pPr algn="ctr"/>
            <a:r>
              <a:rPr sz="760">
                <a:solidFill>
                  <a:srgbClr val="F3F7FA"/>
                </a:solidFill>
              </a:rPr>
              <a:t>简单策略
验证效果</a:t>
            </a:r>
          </a:p>
        </p:txBody>
      </p:sp>
      <p:sp>
        <p:nvSpPr>
          <p:cNvPr id="24" name="Chevron 23"/>
          <p:cNvSpPr/>
          <p:nvPr/>
        </p:nvSpPr>
        <p:spPr>
          <a:xfrm>
            <a:off x="10483596" y="2052828"/>
            <a:ext cx="82296" cy="237744"/>
          </a:xfrm>
          <a:prstGeom prst="chevron">
            <a:avLst/>
          </a:prstGeom>
          <a:solidFill>
            <a:srgbClr val="81D3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10515600" y="1554480"/>
            <a:ext cx="1417320" cy="1234440"/>
          </a:xfrm>
          <a:prstGeom prst="roundRect">
            <a:avLst/>
          </a:prstGeom>
          <a:solidFill>
            <a:srgbClr val="191F2D"/>
          </a:solidFill>
          <a:ln>
            <a:solidFill>
              <a:srgbClr val="2128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588752" y="1645920"/>
            <a:ext cx="1271016" cy="10698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>
                <a:solidFill>
                  <a:srgbClr val="F3F7FA"/>
                </a:solidFill>
              </a:rPr>
              <a:t>信号接入</a:t>
            </a:r>
          </a:p>
          <a:p>
            <a:pPr algn="ctr"/>
            <a:r>
              <a:rPr sz="760">
                <a:solidFill>
                  <a:srgbClr val="F3F7FA"/>
                </a:solidFill>
              </a:rPr>
              <a:t>供研究层消费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48640" y="3246120"/>
            <a:ext cx="10972800" cy="2240280"/>
          </a:xfrm>
          <a:prstGeom prst="roundRect">
            <a:avLst/>
          </a:prstGeom>
          <a:solidFill>
            <a:srgbClr val="191F2D"/>
          </a:solidFill>
          <a:ln w="12700">
            <a:solidFill>
              <a:srgbClr val="2128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13232" y="3319272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81D3F8"/>
                </a:solidFill>
              </a:rPr>
              <a:t>原理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" y="3584448"/>
            <a:ext cx="10469880" cy="169164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F3F7FA"/>
                </a:solidFill>
              </a:defRPr>
            </a:pPr>
            <a:r>
              <a:t>先把连续 K 线序列 token 化，再用大模型学习时序结构，这样模型学到的是市场形态语言而不是传统手工特征。</a:t>
            </a:r>
          </a:p>
          <a:p>
            <a:pPr>
              <a:spcAft>
                <a:spcPts val="400"/>
              </a:spcAft>
              <a:defRPr sz="1100">
                <a:solidFill>
                  <a:srgbClr val="F3F7FA"/>
                </a:solidFill>
              </a:defRPr>
            </a:pPr>
            <a:r>
              <a:t>对 USalpha 的意义是补一类新模型入口，可作为 model_lab 的高级时序模型选项。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966960" y="6400800"/>
            <a:ext cx="14630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B0BCCC"/>
                </a:solidFill>
              </a:rPr>
              <a:t>13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893808" y="6336792"/>
            <a:ext cx="1645920" cy="292608"/>
          </a:xfrm>
          <a:prstGeom prst="rect">
            <a:avLst/>
          </a:prstGeom>
          <a:solidFill>
            <a:srgbClr val="0E12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966960" y="6400800"/>
            <a:ext cx="14630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B0BCCC"/>
                </a:solidFill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2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0881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3F7FA"/>
                </a:solidFill>
              </a:rPr>
              <a:t>博采众长后的目标流程图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6868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>
                <a:solidFill>
                  <a:srgbClr val="B0BCCC"/>
                </a:solidFill>
              </a:rPr>
              <a:t>把每个库最擅长的部分组合起来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1554480"/>
            <a:ext cx="1417320" cy="1234440"/>
          </a:xfrm>
          <a:prstGeom prst="roundRect">
            <a:avLst/>
          </a:prstGeom>
          <a:solidFill>
            <a:srgbClr val="191F2D"/>
          </a:solidFill>
          <a:ln>
            <a:solidFill>
              <a:srgbClr val="2128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47472" y="1645920"/>
            <a:ext cx="1271016" cy="10698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10" b="1">
                <a:solidFill>
                  <a:srgbClr val="F3F7FA"/>
                </a:solidFill>
              </a:rPr>
              <a:t>数据底座</a:t>
            </a:r>
          </a:p>
          <a:p>
            <a:pPr algn="ctr"/>
            <a:r>
              <a:rPr sz="770">
                <a:solidFill>
                  <a:srgbClr val="F3F7FA"/>
                </a:solidFill>
              </a:rPr>
              <a:t>Qlib + a-stock-data
PIT/行情/题材/公告</a:t>
            </a:r>
          </a:p>
        </p:txBody>
      </p:sp>
      <p:sp>
        <p:nvSpPr>
          <p:cNvPr id="6" name="Chevron 5"/>
          <p:cNvSpPr/>
          <p:nvPr/>
        </p:nvSpPr>
        <p:spPr>
          <a:xfrm>
            <a:off x="1705356" y="2052828"/>
            <a:ext cx="82296" cy="237744"/>
          </a:xfrm>
          <a:prstGeom prst="chevron">
            <a:avLst/>
          </a:prstGeom>
          <a:solidFill>
            <a:srgbClr val="81D3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737360" y="1554480"/>
            <a:ext cx="1417320" cy="1234440"/>
          </a:xfrm>
          <a:prstGeom prst="roundRect">
            <a:avLst/>
          </a:prstGeom>
          <a:solidFill>
            <a:srgbClr val="191F2D"/>
          </a:solidFill>
          <a:ln>
            <a:solidFill>
              <a:srgbClr val="2128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810512" y="1645920"/>
            <a:ext cx="1271016" cy="10698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10" b="1">
                <a:solidFill>
                  <a:srgbClr val="F3F7FA"/>
                </a:solidFill>
              </a:rPr>
              <a:t>研究生产</a:t>
            </a:r>
          </a:p>
          <a:p>
            <a:pPr algn="ctr"/>
            <a:r>
              <a:rPr sz="770">
                <a:solidFill>
                  <a:srgbClr val="F3F7FA"/>
                </a:solidFill>
              </a:rPr>
              <a:t>USalpha + QuantaAlpha
因子/特征/自动实验</a:t>
            </a:r>
          </a:p>
        </p:txBody>
      </p:sp>
      <p:sp>
        <p:nvSpPr>
          <p:cNvPr id="9" name="Chevron 8"/>
          <p:cNvSpPr/>
          <p:nvPr/>
        </p:nvSpPr>
        <p:spPr>
          <a:xfrm>
            <a:off x="3168396" y="2052828"/>
            <a:ext cx="82296" cy="237744"/>
          </a:xfrm>
          <a:prstGeom prst="chevron">
            <a:avLst/>
          </a:prstGeom>
          <a:solidFill>
            <a:srgbClr val="81D3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200400" y="1554480"/>
            <a:ext cx="1417320" cy="1234440"/>
          </a:xfrm>
          <a:prstGeom prst="roundRect">
            <a:avLst/>
          </a:prstGeom>
          <a:solidFill>
            <a:srgbClr val="191F2D"/>
          </a:solidFill>
          <a:ln>
            <a:solidFill>
              <a:srgbClr val="2128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73552" y="1645920"/>
            <a:ext cx="1271016" cy="10698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10" b="1">
                <a:solidFill>
                  <a:srgbClr val="F3F7FA"/>
                </a:solidFill>
              </a:rPr>
              <a:t>高级模型</a:t>
            </a:r>
          </a:p>
          <a:p>
            <a:pPr algn="ctr"/>
            <a:r>
              <a:rPr sz="770">
                <a:solidFill>
                  <a:srgbClr val="F3F7FA"/>
                </a:solidFill>
              </a:rPr>
              <a:t>Kronos / ML zoo
时序与截面</a:t>
            </a:r>
          </a:p>
        </p:txBody>
      </p:sp>
      <p:sp>
        <p:nvSpPr>
          <p:cNvPr id="12" name="Chevron 11"/>
          <p:cNvSpPr/>
          <p:nvPr/>
        </p:nvSpPr>
        <p:spPr>
          <a:xfrm>
            <a:off x="4631436" y="2052828"/>
            <a:ext cx="82296" cy="237744"/>
          </a:xfrm>
          <a:prstGeom prst="chevron">
            <a:avLst/>
          </a:prstGeom>
          <a:solidFill>
            <a:srgbClr val="81D3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663440" y="1554480"/>
            <a:ext cx="1417320" cy="1234440"/>
          </a:xfrm>
          <a:prstGeom prst="roundRect">
            <a:avLst/>
          </a:prstGeom>
          <a:solidFill>
            <a:srgbClr val="191F2D"/>
          </a:solidFill>
          <a:ln>
            <a:solidFill>
              <a:srgbClr val="2128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36592" y="1645920"/>
            <a:ext cx="1271016" cy="10698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10" b="1">
                <a:solidFill>
                  <a:srgbClr val="F3F7FA"/>
                </a:solidFill>
              </a:rPr>
              <a:t>信号标准化</a:t>
            </a:r>
          </a:p>
          <a:p>
            <a:pPr algn="ctr"/>
            <a:r>
              <a:rPr sz="770">
                <a:solidFill>
                  <a:srgbClr val="F3F7FA"/>
                </a:solidFill>
              </a:rPr>
              <a:t>Qlib/vnpy.alpha
score -&gt; signal</a:t>
            </a:r>
          </a:p>
        </p:txBody>
      </p:sp>
      <p:sp>
        <p:nvSpPr>
          <p:cNvPr id="15" name="Chevron 14"/>
          <p:cNvSpPr/>
          <p:nvPr/>
        </p:nvSpPr>
        <p:spPr>
          <a:xfrm>
            <a:off x="6094476" y="2052828"/>
            <a:ext cx="82296" cy="237744"/>
          </a:xfrm>
          <a:prstGeom prst="chevron">
            <a:avLst/>
          </a:prstGeom>
          <a:solidFill>
            <a:srgbClr val="81D3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126480" y="1554480"/>
            <a:ext cx="1417320" cy="1234440"/>
          </a:xfrm>
          <a:prstGeom prst="roundRect">
            <a:avLst/>
          </a:prstGeom>
          <a:solidFill>
            <a:srgbClr val="191F2D"/>
          </a:solidFill>
          <a:ln>
            <a:solidFill>
              <a:srgbClr val="2128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199632" y="1645920"/>
            <a:ext cx="1271016" cy="10698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10" b="1">
                <a:solidFill>
                  <a:srgbClr val="F3F7FA"/>
                </a:solidFill>
              </a:rPr>
              <a:t>组合决策</a:t>
            </a:r>
          </a:p>
          <a:p>
            <a:pPr algn="ctr"/>
            <a:r>
              <a:rPr sz="770">
                <a:solidFill>
                  <a:srgbClr val="F3F7FA"/>
                </a:solidFill>
              </a:rPr>
              <a:t>Qlib/AKQuant
仓位与约束</a:t>
            </a:r>
          </a:p>
        </p:txBody>
      </p:sp>
      <p:sp>
        <p:nvSpPr>
          <p:cNvPr id="18" name="Chevron 17"/>
          <p:cNvSpPr/>
          <p:nvPr/>
        </p:nvSpPr>
        <p:spPr>
          <a:xfrm>
            <a:off x="7557516" y="2052828"/>
            <a:ext cx="82296" cy="237744"/>
          </a:xfrm>
          <a:prstGeom prst="chevron">
            <a:avLst/>
          </a:prstGeom>
          <a:solidFill>
            <a:srgbClr val="81D3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7589520" y="1554480"/>
            <a:ext cx="1417320" cy="1234440"/>
          </a:xfrm>
          <a:prstGeom prst="roundRect">
            <a:avLst/>
          </a:prstGeom>
          <a:solidFill>
            <a:srgbClr val="191F2D"/>
          </a:solidFill>
          <a:ln>
            <a:solidFill>
              <a:srgbClr val="2128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662672" y="1645920"/>
            <a:ext cx="1271016" cy="10698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10" b="1">
                <a:solidFill>
                  <a:srgbClr val="F3F7FA"/>
                </a:solidFill>
              </a:rPr>
              <a:t>Agent 审议</a:t>
            </a:r>
          </a:p>
          <a:p>
            <a:pPr algn="ctr"/>
            <a:r>
              <a:rPr sz="770">
                <a:solidFill>
                  <a:srgbClr val="F3F7FA"/>
                </a:solidFill>
              </a:rPr>
              <a:t>TradingAgents
多角色审查</a:t>
            </a:r>
          </a:p>
        </p:txBody>
      </p:sp>
      <p:sp>
        <p:nvSpPr>
          <p:cNvPr id="21" name="Chevron 20"/>
          <p:cNvSpPr/>
          <p:nvPr/>
        </p:nvSpPr>
        <p:spPr>
          <a:xfrm>
            <a:off x="9020556" y="2052828"/>
            <a:ext cx="82296" cy="237744"/>
          </a:xfrm>
          <a:prstGeom prst="chevron">
            <a:avLst/>
          </a:prstGeom>
          <a:solidFill>
            <a:srgbClr val="81D3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9052560" y="1554480"/>
            <a:ext cx="1417320" cy="1234440"/>
          </a:xfrm>
          <a:prstGeom prst="roundRect">
            <a:avLst/>
          </a:prstGeom>
          <a:solidFill>
            <a:srgbClr val="191F2D"/>
          </a:solidFill>
          <a:ln>
            <a:solidFill>
              <a:srgbClr val="2128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25712" y="1645920"/>
            <a:ext cx="1271016" cy="10698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10" b="1">
                <a:solidFill>
                  <a:srgbClr val="F3F7FA"/>
                </a:solidFill>
              </a:rPr>
              <a:t>风控执行</a:t>
            </a:r>
          </a:p>
          <a:p>
            <a:pPr algn="ctr"/>
            <a:r>
              <a:rPr sz="770">
                <a:solidFill>
                  <a:srgbClr val="F3F7FA"/>
                </a:solidFill>
              </a:rPr>
              <a:t>AKQuant + vnpy
RMS/OMS/gateway</a:t>
            </a:r>
          </a:p>
        </p:txBody>
      </p:sp>
      <p:sp>
        <p:nvSpPr>
          <p:cNvPr id="24" name="Chevron 23"/>
          <p:cNvSpPr/>
          <p:nvPr/>
        </p:nvSpPr>
        <p:spPr>
          <a:xfrm>
            <a:off x="10483596" y="2052828"/>
            <a:ext cx="82296" cy="237744"/>
          </a:xfrm>
          <a:prstGeom prst="chevron">
            <a:avLst/>
          </a:prstGeom>
          <a:solidFill>
            <a:srgbClr val="81D3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10515600" y="1554480"/>
            <a:ext cx="1417320" cy="1234440"/>
          </a:xfrm>
          <a:prstGeom prst="roundRect">
            <a:avLst/>
          </a:prstGeom>
          <a:solidFill>
            <a:srgbClr val="191F2D"/>
          </a:solidFill>
          <a:ln>
            <a:solidFill>
              <a:srgbClr val="2128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588752" y="1645920"/>
            <a:ext cx="1271016" cy="10698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10" b="1">
                <a:solidFill>
                  <a:srgbClr val="F3F7FA"/>
                </a:solidFill>
              </a:rPr>
              <a:t>监控复盘</a:t>
            </a:r>
          </a:p>
          <a:p>
            <a:pPr algn="ctr"/>
            <a:r>
              <a:rPr sz="770">
                <a:solidFill>
                  <a:srgbClr val="F3F7FA"/>
                </a:solidFill>
              </a:rPr>
              <a:t>TradingAgents memory
日志/归因/再训练</a:t>
            </a:r>
          </a:p>
        </p:txBody>
      </p:sp>
      <p:graphicFrame>
        <p:nvGraphicFramePr>
          <p:cNvPr id="27" name="Table 26"/>
          <p:cNvGraphicFramePr>
            <a:graphicFrameLocks noGrp="1"/>
          </p:cNvGraphicFramePr>
          <p:nvPr/>
        </p:nvGraphicFramePr>
        <p:xfrm>
          <a:off x="502920" y="3154680"/>
          <a:ext cx="11109960" cy="26517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/>
                <a:gridCol w="2560320"/>
                <a:gridCol w="1828800"/>
                <a:gridCol w="5440680"/>
              </a:tblGrid>
              <a:tr h="441960">
                <a:tc>
                  <a:txBody>
                    <a:bodyPr/>
                    <a:lstStyle/>
                    <a:p>
                      <a:r>
                        <a:rPr b="1" sz="940">
                          <a:solidFill>
                            <a:srgbClr val="F3F7FA"/>
                          </a:solidFill>
                        </a:rPr>
                        <a:t>环节</a:t>
                      </a:r>
                    </a:p>
                  </a:txBody>
                  <a:tcPr>
                    <a:solidFill>
                      <a:srgbClr val="2128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940">
                          <a:solidFill>
                            <a:srgbClr val="F3F7FA"/>
                          </a:solidFill>
                        </a:rPr>
                        <a:t>最优参考</a:t>
                      </a:r>
                    </a:p>
                  </a:txBody>
                  <a:tcPr>
                    <a:solidFill>
                      <a:srgbClr val="2128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940">
                          <a:solidFill>
                            <a:srgbClr val="F3F7FA"/>
                          </a:solidFill>
                        </a:rPr>
                        <a:t>USalpha 当前状态</a:t>
                      </a:r>
                    </a:p>
                  </a:txBody>
                  <a:tcPr>
                    <a:solidFill>
                      <a:srgbClr val="2128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940">
                          <a:solidFill>
                            <a:srgbClr val="F3F7FA"/>
                          </a:solidFill>
                        </a:rPr>
                        <a:t>下一步</a:t>
                      </a:r>
                    </a:p>
                  </a:txBody>
                  <a:tcPr>
                    <a:solidFill>
                      <a:srgbClr val="21283A"/>
                    </a:solidFill>
                  </a:tcPr>
                </a:tc>
              </a:tr>
              <a:tr h="441960">
                <a:tc>
                  <a:txBody>
                    <a:bodyPr/>
                    <a:lstStyle/>
                    <a:p>
                      <a:r>
                        <a:rPr sz="940">
                          <a:solidFill>
                            <a:srgbClr val="F3F7FA"/>
                          </a:solidFill>
                        </a:rPr>
                        <a:t>数据</a:t>
                      </a:r>
                    </a:p>
                  </a:txBody>
                  <a:tcPr anchor="ctr">
                    <a:solidFill>
                      <a:srgbClr val="191F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40">
                          <a:solidFill>
                            <a:srgbClr val="B0BCCC"/>
                          </a:solidFill>
                        </a:rPr>
                        <a:t>Qlib + a-stock-data</a:t>
                      </a:r>
                    </a:p>
                  </a:txBody>
                  <a:tcPr anchor="ctr">
                    <a:solidFill>
                      <a:srgbClr val="191F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40">
                          <a:solidFill>
                            <a:srgbClr val="B0BCCC"/>
                          </a:solidFill>
                        </a:rPr>
                        <a:t>弱到中</a:t>
                      </a:r>
                    </a:p>
                  </a:txBody>
                  <a:tcPr anchor="ctr">
                    <a:solidFill>
                      <a:srgbClr val="191F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40">
                          <a:solidFill>
                            <a:srgbClr val="B0BCCC"/>
                          </a:solidFill>
                        </a:rPr>
                        <a:t>先补 catalog / PIT / A股信息层</a:t>
                      </a:r>
                    </a:p>
                  </a:txBody>
                  <a:tcPr anchor="ctr">
                    <a:solidFill>
                      <a:srgbClr val="191F2D"/>
                    </a:solidFill>
                  </a:tcPr>
                </a:tc>
              </a:tr>
              <a:tr h="441960">
                <a:tc>
                  <a:txBody>
                    <a:bodyPr/>
                    <a:lstStyle/>
                    <a:p>
                      <a:r>
                        <a:rPr sz="940">
                          <a:solidFill>
                            <a:srgbClr val="F3F7FA"/>
                          </a:solidFill>
                        </a:rPr>
                        <a:t>研究自动化</a:t>
                      </a:r>
                    </a:p>
                  </a:txBody>
                  <a:tcPr anchor="ctr">
                    <a:solidFill>
                      <a:srgbClr val="191F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40">
                          <a:solidFill>
                            <a:srgbClr val="B0BCCC"/>
                          </a:solidFill>
                        </a:rPr>
                        <a:t>QuantaAlpha</a:t>
                      </a:r>
                    </a:p>
                  </a:txBody>
                  <a:tcPr anchor="ctr">
                    <a:solidFill>
                      <a:srgbClr val="191F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40">
                          <a:solidFill>
                            <a:srgbClr val="B0BCCC"/>
                          </a:solidFill>
                        </a:rPr>
                        <a:t>中</a:t>
                      </a:r>
                    </a:p>
                  </a:txBody>
                  <a:tcPr anchor="ctr">
                    <a:solidFill>
                      <a:srgbClr val="191F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40">
                          <a:solidFill>
                            <a:srgbClr val="B0BCCC"/>
                          </a:solidFill>
                        </a:rPr>
                        <a:t>补 experiment loop 与 factor library</a:t>
                      </a:r>
                    </a:p>
                  </a:txBody>
                  <a:tcPr anchor="ctr">
                    <a:solidFill>
                      <a:srgbClr val="191F2D"/>
                    </a:solidFill>
                  </a:tcPr>
                </a:tc>
              </a:tr>
              <a:tr h="441960">
                <a:tc>
                  <a:txBody>
                    <a:bodyPr/>
                    <a:lstStyle/>
                    <a:p>
                      <a:r>
                        <a:rPr sz="940">
                          <a:solidFill>
                            <a:srgbClr val="F3F7FA"/>
                          </a:solidFill>
                        </a:rPr>
                        <a:t>Agent</a:t>
                      </a:r>
                    </a:p>
                  </a:txBody>
                  <a:tcPr anchor="ctr">
                    <a:solidFill>
                      <a:srgbClr val="191F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40">
                          <a:solidFill>
                            <a:srgbClr val="B0BCCC"/>
                          </a:solidFill>
                        </a:rPr>
                        <a:t>TradingAgents</a:t>
                      </a:r>
                    </a:p>
                  </a:txBody>
                  <a:tcPr anchor="ctr">
                    <a:solidFill>
                      <a:srgbClr val="191F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40">
                          <a:solidFill>
                            <a:srgbClr val="B0BCCC"/>
                          </a:solidFill>
                        </a:rPr>
                        <a:t>弱</a:t>
                      </a:r>
                    </a:p>
                  </a:txBody>
                  <a:tcPr anchor="ctr">
                    <a:solidFill>
                      <a:srgbClr val="191F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40">
                          <a:solidFill>
                            <a:srgbClr val="B0BCCC"/>
                          </a:solidFill>
                        </a:rPr>
                        <a:t>引入 graph / memory / reviewer</a:t>
                      </a:r>
                    </a:p>
                  </a:txBody>
                  <a:tcPr anchor="ctr">
                    <a:solidFill>
                      <a:srgbClr val="191F2D"/>
                    </a:solidFill>
                  </a:tcPr>
                </a:tc>
              </a:tr>
              <a:tr h="441960">
                <a:tc>
                  <a:txBody>
                    <a:bodyPr/>
                    <a:lstStyle/>
                    <a:p>
                      <a:r>
                        <a:rPr sz="940">
                          <a:solidFill>
                            <a:srgbClr val="F3F7FA"/>
                          </a:solidFill>
                        </a:rPr>
                        <a:t>执行</a:t>
                      </a:r>
                    </a:p>
                  </a:txBody>
                  <a:tcPr anchor="ctr">
                    <a:solidFill>
                      <a:srgbClr val="191F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40">
                          <a:solidFill>
                            <a:srgbClr val="B0BCCC"/>
                          </a:solidFill>
                        </a:rPr>
                        <a:t>AKQuant + vnpy</a:t>
                      </a:r>
                    </a:p>
                  </a:txBody>
                  <a:tcPr anchor="ctr">
                    <a:solidFill>
                      <a:srgbClr val="191F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40">
                          <a:solidFill>
                            <a:srgbClr val="B0BCCC"/>
                          </a:solidFill>
                        </a:rPr>
                        <a:t>无</a:t>
                      </a:r>
                    </a:p>
                  </a:txBody>
                  <a:tcPr anchor="ctr">
                    <a:solidFill>
                      <a:srgbClr val="191F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40">
                          <a:solidFill>
                            <a:srgbClr val="B0BCCC"/>
                          </a:solidFill>
                        </a:rPr>
                        <a:t>抽 backtest_core -&gt; OMS/RMS/gateway</a:t>
                      </a:r>
                    </a:p>
                  </a:txBody>
                  <a:tcPr anchor="ctr">
                    <a:solidFill>
                      <a:srgbClr val="191F2D"/>
                    </a:solidFill>
                  </a:tcPr>
                </a:tc>
              </a:tr>
              <a:tr h="441960">
                <a:tc>
                  <a:txBody>
                    <a:bodyPr/>
                    <a:lstStyle/>
                    <a:p>
                      <a:r>
                        <a:rPr sz="940">
                          <a:solidFill>
                            <a:srgbClr val="F3F7FA"/>
                          </a:solidFill>
                        </a:rPr>
                        <a:t>复盘</a:t>
                      </a:r>
                    </a:p>
                  </a:txBody>
                  <a:tcPr anchor="ctr">
                    <a:solidFill>
                      <a:srgbClr val="191F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40">
                          <a:solidFill>
                            <a:srgbClr val="B0BCCC"/>
                          </a:solidFill>
                        </a:rPr>
                        <a:t>Qlib + TradingAgents</a:t>
                      </a:r>
                    </a:p>
                  </a:txBody>
                  <a:tcPr anchor="ctr">
                    <a:solidFill>
                      <a:srgbClr val="191F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40">
                          <a:solidFill>
                            <a:srgbClr val="B0BCCC"/>
                          </a:solidFill>
                        </a:rPr>
                        <a:t>弱</a:t>
                      </a:r>
                    </a:p>
                  </a:txBody>
                  <a:tcPr anchor="ctr">
                    <a:solidFill>
                      <a:srgbClr val="191F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40">
                          <a:solidFill>
                            <a:srgbClr val="B0BCCC"/>
                          </a:solidFill>
                        </a:rPr>
                        <a:t>统一 artifacts + decision memory</a:t>
                      </a:r>
                    </a:p>
                  </a:txBody>
                  <a:tcPr anchor="ctr">
                    <a:solidFill>
                      <a:srgbClr val="191F2D"/>
                    </a:solidFill>
                  </a:tcPr>
                </a:tc>
              </a:tr>
            </a:tbl>
          </a:graphicData>
        </a:graphic>
      </p:graphicFrame>
      <p:sp>
        <p:nvSpPr>
          <p:cNvPr id="28" name="TextBox 27"/>
          <p:cNvSpPr txBox="1"/>
          <p:nvPr/>
        </p:nvSpPr>
        <p:spPr>
          <a:xfrm>
            <a:off x="9966960" y="6400800"/>
            <a:ext cx="14630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B0BCCC"/>
                </a:solidFill>
              </a:rPr>
              <a:t>14</a:t>
            </a:r>
          </a:p>
        </p:txBody>
      </p:sp>
      <p:sp>
        <p:nvSpPr>
          <p:cNvPr id="29" name="Rectangle 28"/>
          <p:cNvSpPr/>
          <p:nvPr/>
        </p:nvSpPr>
        <p:spPr>
          <a:xfrm>
            <a:off x="9893808" y="6336792"/>
            <a:ext cx="1645920" cy="292608"/>
          </a:xfrm>
          <a:prstGeom prst="rect">
            <a:avLst/>
          </a:prstGeom>
          <a:solidFill>
            <a:srgbClr val="0E12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966960" y="6400800"/>
            <a:ext cx="14630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B0BCCC"/>
                </a:solidFill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2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0881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3F7FA"/>
                </a:solidFill>
              </a:rPr>
              <a:t>模块化评价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6868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>
                <a:solidFill>
                  <a:srgbClr val="B0BCCC"/>
                </a:solidFill>
              </a:rPr>
              <a:t>核心模块已经分开，但平台级抽象还不够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02920" y="1234440"/>
          <a:ext cx="10789920" cy="5120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34440"/>
                <a:gridCol w="3657600"/>
                <a:gridCol w="1143000"/>
                <a:gridCol w="4754880"/>
              </a:tblGrid>
              <a:tr h="640080">
                <a:tc>
                  <a:txBody>
                    <a:bodyPr/>
                    <a:lstStyle/>
                    <a:p>
                      <a:r>
                        <a:rPr b="1" sz="1050">
                          <a:solidFill>
                            <a:srgbClr val="F3F7FA"/>
                          </a:solidFill>
                        </a:rPr>
                        <a:t>维度</a:t>
                      </a:r>
                    </a:p>
                  </a:txBody>
                  <a:tcPr>
                    <a:solidFill>
                      <a:srgbClr val="2128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050">
                          <a:solidFill>
                            <a:srgbClr val="F3F7FA"/>
                          </a:solidFill>
                        </a:rPr>
                        <a:t>现状</a:t>
                      </a:r>
                    </a:p>
                  </a:txBody>
                  <a:tcPr>
                    <a:solidFill>
                      <a:srgbClr val="2128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050">
                          <a:solidFill>
                            <a:srgbClr val="F3F7FA"/>
                          </a:solidFill>
                        </a:rPr>
                        <a:t>评价</a:t>
                      </a:r>
                    </a:p>
                  </a:txBody>
                  <a:tcPr>
                    <a:solidFill>
                      <a:srgbClr val="2128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050">
                          <a:solidFill>
                            <a:srgbClr val="F3F7FA"/>
                          </a:solidFill>
                        </a:rPr>
                        <a:t>建议</a:t>
                      </a:r>
                    </a:p>
                  </a:txBody>
                  <a:tcPr>
                    <a:solidFill>
                      <a:srgbClr val="21283A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F3F7FA"/>
                          </a:solidFill>
                        </a:rPr>
                        <a:t>数据层</a:t>
                      </a:r>
                    </a:p>
                  </a:txBody>
                  <a:tcPr anchor="ctr">
                    <a:solidFill>
                      <a:srgbClr val="191F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B0BCCC"/>
                          </a:solidFill>
                        </a:rPr>
                        <a:t>US/CN 逻辑并存，采集/缓存/fallback 混在同层</a:t>
                      </a:r>
                    </a:p>
                  </a:txBody>
                  <a:tcPr anchor="ctr">
                    <a:solidFill>
                      <a:srgbClr val="191F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B0BCCC"/>
                          </a:solidFill>
                        </a:rPr>
                        <a:t>中等</a:t>
                      </a:r>
                    </a:p>
                  </a:txBody>
                  <a:tcPr anchor="ctr">
                    <a:solidFill>
                      <a:srgbClr val="191F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B0BCCC"/>
                          </a:solidFill>
                        </a:rPr>
                        <a:t>拆成 source / cache / catalog / quality</a:t>
                      </a:r>
                    </a:p>
                  </a:txBody>
                  <a:tcPr anchor="ctr">
                    <a:solidFill>
                      <a:srgbClr val="191F2D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F3F7FA"/>
                          </a:solidFill>
                        </a:rPr>
                        <a:t>因子层</a:t>
                      </a:r>
                    </a:p>
                  </a:txBody>
                  <a:tcPr anchor="ctr">
                    <a:solidFill>
                      <a:srgbClr val="191F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B0BCCC"/>
                          </a:solidFill>
                        </a:rPr>
                        <a:t>表达式与计算主干清楚</a:t>
                      </a:r>
                    </a:p>
                  </a:txBody>
                  <a:tcPr anchor="ctr">
                    <a:solidFill>
                      <a:srgbClr val="191F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B0BCCC"/>
                          </a:solidFill>
                        </a:rPr>
                        <a:t>较好</a:t>
                      </a:r>
                    </a:p>
                  </a:txBody>
                  <a:tcPr anchor="ctr">
                    <a:solidFill>
                      <a:srgbClr val="191F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B0BCCC"/>
                          </a:solidFill>
                        </a:rPr>
                        <a:t>补注册表、元数据、依赖关系</a:t>
                      </a:r>
                    </a:p>
                  </a:txBody>
                  <a:tcPr anchor="ctr">
                    <a:solidFill>
                      <a:srgbClr val="191F2D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F3F7FA"/>
                          </a:solidFill>
                        </a:rPr>
                        <a:t>模型层</a:t>
                      </a:r>
                    </a:p>
                  </a:txBody>
                  <a:tcPr anchor="ctr">
                    <a:solidFill>
                      <a:srgbClr val="191F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B0BCCC"/>
                          </a:solidFill>
                        </a:rPr>
                        <a:t>基线模型独立，但模型族很薄</a:t>
                      </a:r>
                    </a:p>
                  </a:txBody>
                  <a:tcPr anchor="ctr">
                    <a:solidFill>
                      <a:srgbClr val="191F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B0BCCC"/>
                          </a:solidFill>
                        </a:rPr>
                        <a:t>中等</a:t>
                      </a:r>
                    </a:p>
                  </a:txBody>
                  <a:tcPr anchor="ctr">
                    <a:solidFill>
                      <a:srgbClr val="191F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B0BCCC"/>
                          </a:solidFill>
                        </a:rPr>
                        <a:t>做 model registry 与训练接口</a:t>
                      </a:r>
                    </a:p>
                  </a:txBody>
                  <a:tcPr anchor="ctr">
                    <a:solidFill>
                      <a:srgbClr val="191F2D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F3F7FA"/>
                          </a:solidFill>
                        </a:rPr>
                        <a:t>回测层</a:t>
                      </a:r>
                    </a:p>
                  </a:txBody>
                  <a:tcPr anchor="ctr">
                    <a:solidFill>
                      <a:srgbClr val="191F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B0BCCC"/>
                          </a:solidFill>
                        </a:rPr>
                        <a:t>主流程回测与页面回测口径不统一</a:t>
                      </a:r>
                    </a:p>
                  </a:txBody>
                  <a:tcPr anchor="ctr">
                    <a:solidFill>
                      <a:srgbClr val="191F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B0BCCC"/>
                          </a:solidFill>
                        </a:rPr>
                        <a:t>偏弱</a:t>
                      </a:r>
                    </a:p>
                  </a:txBody>
                  <a:tcPr anchor="ctr">
                    <a:solidFill>
                      <a:srgbClr val="191F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B0BCCC"/>
                          </a:solidFill>
                        </a:rPr>
                        <a:t>统一 backtest engine / execution semantics</a:t>
                      </a:r>
                    </a:p>
                  </a:txBody>
                  <a:tcPr anchor="ctr">
                    <a:solidFill>
                      <a:srgbClr val="191F2D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F3F7FA"/>
                          </a:solidFill>
                        </a:rPr>
                        <a:t>页面层</a:t>
                      </a:r>
                    </a:p>
                  </a:txBody>
                  <a:tcPr anchor="ctr">
                    <a:solidFill>
                      <a:srgbClr val="191F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B0BCCC"/>
                          </a:solidFill>
                        </a:rPr>
                        <a:t>能力丰富，但单文件偏重</a:t>
                      </a:r>
                    </a:p>
                  </a:txBody>
                  <a:tcPr anchor="ctr">
                    <a:solidFill>
                      <a:srgbClr val="191F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B0BCCC"/>
                          </a:solidFill>
                        </a:rPr>
                        <a:t>偏弱</a:t>
                      </a:r>
                    </a:p>
                  </a:txBody>
                  <a:tcPr anchor="ctr">
                    <a:solidFill>
                      <a:srgbClr val="191F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B0BCCC"/>
                          </a:solidFill>
                        </a:rPr>
                        <a:t>拆 page / service / state / adapter</a:t>
                      </a:r>
                    </a:p>
                  </a:txBody>
                  <a:tcPr anchor="ctr">
                    <a:solidFill>
                      <a:srgbClr val="191F2D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F3F7FA"/>
                          </a:solidFill>
                        </a:rPr>
                        <a:t>实验层</a:t>
                      </a:r>
                    </a:p>
                  </a:txBody>
                  <a:tcPr anchor="ctr">
                    <a:solidFill>
                      <a:srgbClr val="191F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B0BCCC"/>
                          </a:solidFill>
                        </a:rPr>
                        <a:t>结果有 artifacts，但缺 experiment registry</a:t>
                      </a:r>
                    </a:p>
                  </a:txBody>
                  <a:tcPr anchor="ctr">
                    <a:solidFill>
                      <a:srgbClr val="191F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B0BCCC"/>
                          </a:solidFill>
                        </a:rPr>
                        <a:t>偏弱</a:t>
                      </a:r>
                    </a:p>
                  </a:txBody>
                  <a:tcPr anchor="ctr">
                    <a:solidFill>
                      <a:srgbClr val="191F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B0BCCC"/>
                          </a:solidFill>
                        </a:rPr>
                        <a:t>补 run metadata、comparison、repro</a:t>
                      </a:r>
                    </a:p>
                  </a:txBody>
                  <a:tcPr anchor="ctr">
                    <a:solidFill>
                      <a:srgbClr val="191F2D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F3F7FA"/>
                          </a:solidFill>
                        </a:rPr>
                        <a:t>Agent 层</a:t>
                      </a:r>
                    </a:p>
                  </a:txBody>
                  <a:tcPr anchor="ctr">
                    <a:solidFill>
                      <a:srgbClr val="191F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B0BCCC"/>
                          </a:solidFill>
                        </a:rPr>
                        <a:t>只有 LLM factor round 雏形</a:t>
                      </a:r>
                    </a:p>
                  </a:txBody>
                  <a:tcPr anchor="ctr">
                    <a:solidFill>
                      <a:srgbClr val="191F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B0BCCC"/>
                          </a:solidFill>
                        </a:rPr>
                        <a:t>较弱</a:t>
                      </a:r>
                    </a:p>
                  </a:txBody>
                  <a:tcPr anchor="ctr">
                    <a:solidFill>
                      <a:srgbClr val="191F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50">
                          <a:solidFill>
                            <a:srgbClr val="B0BCCC"/>
                          </a:solidFill>
                        </a:rPr>
                        <a:t>拆 planner / proposer / evaluator / reviewer / operator</a:t>
                      </a:r>
                    </a:p>
                  </a:txBody>
                  <a:tcPr anchor="ctr">
                    <a:solidFill>
                      <a:srgbClr val="191F2D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9966960" y="6400800"/>
            <a:ext cx="14630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B0BCCC"/>
                </a:solidFill>
              </a:rPr>
              <a:t>05</a:t>
            </a:r>
          </a:p>
        </p:txBody>
      </p:sp>
      <p:sp>
        <p:nvSpPr>
          <p:cNvPr id="6" name="Rectangle 5"/>
          <p:cNvSpPr/>
          <p:nvPr/>
        </p:nvSpPr>
        <p:spPr>
          <a:xfrm>
            <a:off x="9893808" y="6336792"/>
            <a:ext cx="1645920" cy="292608"/>
          </a:xfrm>
          <a:prstGeom prst="rect">
            <a:avLst/>
          </a:prstGeom>
          <a:solidFill>
            <a:srgbClr val="0E12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966960" y="6400800"/>
            <a:ext cx="14630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B0BCCC"/>
                </a:solidFill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2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0881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3F7FA"/>
                </a:solidFill>
              </a:rPr>
              <a:t>建议的模块化切分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6868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>
                <a:solidFill>
                  <a:srgbClr val="B0BCCC"/>
                </a:solidFill>
              </a:rPr>
              <a:t>按完整交易链拆，而不是按页面功能拆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11480" y="1234440"/>
          <a:ext cx="11201400" cy="5303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08760"/>
                <a:gridCol w="4114800"/>
                <a:gridCol w="5577840"/>
              </a:tblGrid>
              <a:tr h="589280">
                <a:tc>
                  <a:txBody>
                    <a:bodyPr/>
                    <a:lstStyle/>
                    <a:p>
                      <a:r>
                        <a:rPr b="1" sz="1000">
                          <a:solidFill>
                            <a:srgbClr val="F3F7FA"/>
                          </a:solidFill>
                        </a:rPr>
                        <a:t>模块</a:t>
                      </a:r>
                    </a:p>
                  </a:txBody>
                  <a:tcPr>
                    <a:solidFill>
                      <a:srgbClr val="2128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000">
                          <a:solidFill>
                            <a:srgbClr val="F3F7FA"/>
                          </a:solidFill>
                        </a:rPr>
                        <a:t>职责</a:t>
                      </a:r>
                    </a:p>
                  </a:txBody>
                  <a:tcPr>
                    <a:solidFill>
                      <a:srgbClr val="2128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000">
                          <a:solidFill>
                            <a:srgbClr val="F3F7FA"/>
                          </a:solidFill>
                        </a:rPr>
                        <a:t>与当前 USalpha 的关系</a:t>
                      </a:r>
                    </a:p>
                  </a:txBody>
                  <a:tcPr>
                    <a:solidFill>
                      <a:srgbClr val="21283A"/>
                    </a:solidFill>
                  </a:tcPr>
                </a:tc>
              </a:tr>
              <a:tr h="58928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3F7FA"/>
                          </a:solidFill>
                        </a:rPr>
                        <a:t>data_core</a:t>
                      </a:r>
                    </a:p>
                  </a:txBody>
                  <a:tcPr anchor="ctr">
                    <a:solidFill>
                      <a:srgbClr val="191F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B0BCCC"/>
                          </a:solidFill>
                        </a:rPr>
                        <a:t>多数据源、缓存、PIT、公告/新闻/题材、元数据 catalog</a:t>
                      </a:r>
                    </a:p>
                  </a:txBody>
                  <a:tcPr anchor="ctr">
                    <a:solidFill>
                      <a:srgbClr val="191F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B0BCCC"/>
                          </a:solidFill>
                        </a:rPr>
                        <a:t>从 data.py 与 CN/A股缓存逻辑外扩</a:t>
                      </a:r>
                    </a:p>
                  </a:txBody>
                  <a:tcPr anchor="ctr">
                    <a:solidFill>
                      <a:srgbClr val="191F2D"/>
                    </a:solidFill>
                  </a:tcPr>
                </a:tc>
              </a:tr>
              <a:tr h="58928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3F7FA"/>
                          </a:solidFill>
                        </a:rPr>
                        <a:t>research_core</a:t>
                      </a:r>
                    </a:p>
                  </a:txBody>
                  <a:tcPr anchor="ctr">
                    <a:solidFill>
                      <a:srgbClr val="191F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B0BCCC"/>
                          </a:solidFill>
                        </a:rPr>
                        <a:t>因子表达、特征工程、候选库、研究配置、实验协议</a:t>
                      </a:r>
                    </a:p>
                  </a:txBody>
                  <a:tcPr anchor="ctr">
                    <a:solidFill>
                      <a:srgbClr val="191F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B0BCCC"/>
                          </a:solidFill>
                        </a:rPr>
                        <a:t>整合 factors.py / factor_evolution.py</a:t>
                      </a:r>
                    </a:p>
                  </a:txBody>
                  <a:tcPr anchor="ctr">
                    <a:solidFill>
                      <a:srgbClr val="191F2D"/>
                    </a:solidFill>
                  </a:tcPr>
                </a:tc>
              </a:tr>
              <a:tr h="58928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3F7FA"/>
                          </a:solidFill>
                        </a:rPr>
                        <a:t>model_lab</a:t>
                      </a:r>
                    </a:p>
                  </a:txBody>
                  <a:tcPr anchor="ctr">
                    <a:solidFill>
                      <a:srgbClr val="191F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B0BCCC"/>
                          </a:solidFill>
                        </a:rPr>
                        <a:t>训练、预测、滚动训练、模型注册、信号标准化</a:t>
                      </a:r>
                    </a:p>
                  </a:txBody>
                  <a:tcPr anchor="ctr">
                    <a:solidFill>
                      <a:srgbClr val="191F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B0BCCC"/>
                          </a:solidFill>
                        </a:rPr>
                        <a:t>扩展当前 model.py</a:t>
                      </a:r>
                    </a:p>
                  </a:txBody>
                  <a:tcPr anchor="ctr">
                    <a:solidFill>
                      <a:srgbClr val="191F2D"/>
                    </a:solidFill>
                  </a:tcPr>
                </a:tc>
              </a:tr>
              <a:tr h="58928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3F7FA"/>
                          </a:solidFill>
                        </a:rPr>
                        <a:t>portfolio_core</a:t>
                      </a:r>
                    </a:p>
                  </a:txBody>
                  <a:tcPr anchor="ctr">
                    <a:solidFill>
                      <a:srgbClr val="191F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B0BCCC"/>
                          </a:solidFill>
                        </a:rPr>
                        <a:t>仓位、约束、换手、容量、组合回测</a:t>
                      </a:r>
                    </a:p>
                  </a:txBody>
                  <a:tcPr anchor="ctr">
                    <a:solidFill>
                      <a:srgbClr val="191F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B0BCCC"/>
                          </a:solidFill>
                        </a:rPr>
                        <a:t>从当前 long-short 回测上移一层</a:t>
                      </a:r>
                    </a:p>
                  </a:txBody>
                  <a:tcPr anchor="ctr">
                    <a:solidFill>
                      <a:srgbClr val="191F2D"/>
                    </a:solidFill>
                  </a:tcPr>
                </a:tc>
              </a:tr>
              <a:tr h="58928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3F7FA"/>
                          </a:solidFill>
                        </a:rPr>
                        <a:t>execution_core</a:t>
                      </a:r>
                    </a:p>
                  </a:txBody>
                  <a:tcPr anchor="ctr">
                    <a:solidFill>
                      <a:srgbClr val="191F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B0BCCC"/>
                          </a:solidFill>
                        </a:rPr>
                        <a:t>RMS、OMS、撮合、paper/live gateway</a:t>
                      </a:r>
                    </a:p>
                  </a:txBody>
                  <a:tcPr anchor="ctr">
                    <a:solidFill>
                      <a:srgbClr val="191F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B0BCCC"/>
                          </a:solidFill>
                        </a:rPr>
                        <a:t>当前基本缺失，需要新建</a:t>
                      </a:r>
                    </a:p>
                  </a:txBody>
                  <a:tcPr anchor="ctr">
                    <a:solidFill>
                      <a:srgbClr val="191F2D"/>
                    </a:solidFill>
                  </a:tcPr>
                </a:tc>
              </a:tr>
              <a:tr h="58928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3F7FA"/>
                          </a:solidFill>
                        </a:rPr>
                        <a:t>agent_lab</a:t>
                      </a:r>
                    </a:p>
                  </a:txBody>
                  <a:tcPr anchor="ctr">
                    <a:solidFill>
                      <a:srgbClr val="191F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B0BCCC"/>
                          </a:solidFill>
                        </a:rPr>
                        <a:t>planner / reviewer / PM / memory / checkpoint</a:t>
                      </a:r>
                    </a:p>
                  </a:txBody>
                  <a:tcPr anchor="ctr">
                    <a:solidFill>
                      <a:srgbClr val="191F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B0BCCC"/>
                          </a:solidFill>
                        </a:rPr>
                        <a:t>把单轮 LLM 工具升级为图编排层</a:t>
                      </a:r>
                    </a:p>
                  </a:txBody>
                  <a:tcPr anchor="ctr">
                    <a:solidFill>
                      <a:srgbClr val="191F2D"/>
                    </a:solidFill>
                  </a:tcPr>
                </a:tc>
              </a:tr>
              <a:tr h="58928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3F7FA"/>
                          </a:solidFill>
                        </a:rPr>
                        <a:t>ops_runtime</a:t>
                      </a:r>
                    </a:p>
                  </a:txBody>
                  <a:tcPr anchor="ctr">
                    <a:solidFill>
                      <a:srgbClr val="191F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B0BCCC"/>
                          </a:solidFill>
                        </a:rPr>
                        <a:t>artifact、日志、监控、告警、恢复、审计</a:t>
                      </a:r>
                    </a:p>
                  </a:txBody>
                  <a:tcPr anchor="ctr">
                    <a:solidFill>
                      <a:srgbClr val="191F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B0BCCC"/>
                          </a:solidFill>
                        </a:rPr>
                        <a:t>把零散输出提升为运维层</a:t>
                      </a:r>
                    </a:p>
                  </a:txBody>
                  <a:tcPr anchor="ctr">
                    <a:solidFill>
                      <a:srgbClr val="191F2D"/>
                    </a:solidFill>
                  </a:tcPr>
                </a:tc>
              </a:tr>
              <a:tr h="589280"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F3F7FA"/>
                          </a:solidFill>
                        </a:rPr>
                        <a:t>ui_app</a:t>
                      </a:r>
                    </a:p>
                  </a:txBody>
                  <a:tcPr anchor="ctr">
                    <a:solidFill>
                      <a:srgbClr val="191F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B0BCCC"/>
                          </a:solidFill>
                        </a:rPr>
                        <a:t>dashboard、CLI、报告、API</a:t>
                      </a:r>
                    </a:p>
                  </a:txBody>
                  <a:tcPr anchor="ctr">
                    <a:solidFill>
                      <a:srgbClr val="191F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>
                          <a:solidFill>
                            <a:srgbClr val="B0BCCC"/>
                          </a:solidFill>
                        </a:rPr>
                        <a:t>把 factor_dashboard.py 拆成多个入口</a:t>
                      </a:r>
                    </a:p>
                  </a:txBody>
                  <a:tcPr anchor="ctr">
                    <a:solidFill>
                      <a:srgbClr val="191F2D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9966960" y="6400800"/>
            <a:ext cx="14630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B0BCCC"/>
                </a:solidFill>
              </a:rPr>
              <a:t>15</a:t>
            </a:r>
          </a:p>
        </p:txBody>
      </p:sp>
      <p:sp>
        <p:nvSpPr>
          <p:cNvPr id="6" name="Rectangle 5"/>
          <p:cNvSpPr/>
          <p:nvPr/>
        </p:nvSpPr>
        <p:spPr>
          <a:xfrm>
            <a:off x="9893808" y="6336792"/>
            <a:ext cx="1645920" cy="292608"/>
          </a:xfrm>
          <a:prstGeom prst="rect">
            <a:avLst/>
          </a:prstGeom>
          <a:solidFill>
            <a:srgbClr val="0E12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966960" y="6400800"/>
            <a:ext cx="14630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B0BCCC"/>
                </a:solidFill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2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0881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3F7FA"/>
                </a:solidFill>
              </a:rPr>
              <a:t>USalpha 如何增加 Multi-Agent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6868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>
                <a:solidFill>
                  <a:srgbClr val="B0BCCC"/>
                </a:solidFill>
              </a:rPr>
              <a:t>Agent 不是页面助手，而是交易链中的协作层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325880"/>
            <a:ext cx="3657600" cy="4480560"/>
          </a:xfrm>
          <a:prstGeom prst="roundRect">
            <a:avLst/>
          </a:prstGeom>
          <a:solidFill>
            <a:srgbClr val="191F2D"/>
          </a:solidFill>
          <a:ln w="12700">
            <a:solidFill>
              <a:srgbClr val="2128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2" y="1399032"/>
            <a:ext cx="3383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81D3F8"/>
                </a:solidFill>
              </a:rPr>
              <a:t>放在哪里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1664208"/>
            <a:ext cx="3218688" cy="3749039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F3F7FA"/>
                </a:solidFill>
              </a:defRPr>
            </a:pPr>
            <a:r>
              <a:t>新增 `agent_lab` 作为独立层。</a:t>
            </a:r>
          </a:p>
          <a:p>
            <a:pPr>
              <a:spcAft>
                <a:spcPts val="400"/>
              </a:spcAft>
              <a:defRPr sz="1200">
                <a:solidFill>
                  <a:srgbClr val="F3F7FA"/>
                </a:solidFill>
              </a:defRPr>
            </a:pPr>
            <a:r>
              <a:t>由 graph/state machine 驱动，而不是由 Streamlit 页面直接串函数。</a:t>
            </a:r>
          </a:p>
          <a:p>
            <a:pPr>
              <a:spcAft>
                <a:spcPts val="400"/>
              </a:spcAft>
              <a:defRPr sz="1200">
                <a:solidFill>
                  <a:srgbClr val="F3F7FA"/>
                </a:solidFill>
              </a:defRPr>
            </a:pPr>
            <a:r>
              <a:t>Agent 只调用标准化 service：data_core / research_core / model_lab / portfolio_core / execution_core。</a:t>
            </a:r>
          </a:p>
          <a:p>
            <a:pPr>
              <a:spcAft>
                <a:spcPts val="400"/>
              </a:spcAft>
              <a:defRPr sz="1200">
                <a:solidFill>
                  <a:srgbClr val="F3F7FA"/>
                </a:solidFill>
              </a:defRPr>
            </a:pPr>
            <a:r>
              <a:t>每次 run 产出 plan、signal review、portfolio verdict、memory。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15968" y="1325880"/>
            <a:ext cx="3657600" cy="4480560"/>
          </a:xfrm>
          <a:prstGeom prst="roundRect">
            <a:avLst/>
          </a:prstGeom>
          <a:solidFill>
            <a:srgbClr val="191F2D"/>
          </a:solidFill>
          <a:ln w="12700">
            <a:solidFill>
              <a:srgbClr val="2128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560" y="1399032"/>
            <a:ext cx="33832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81D3F8"/>
                </a:solidFill>
              </a:rPr>
              <a:t>它能实现什么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17136" y="1664208"/>
            <a:ext cx="3218688" cy="3749039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F3F7FA"/>
                </a:solidFill>
              </a:defRPr>
            </a:pPr>
            <a:r>
              <a:t>自动提出候选因子与策略假设。</a:t>
            </a:r>
          </a:p>
          <a:p>
            <a:pPr>
              <a:spcAft>
                <a:spcPts val="400"/>
              </a:spcAft>
              <a:defRPr sz="1200">
                <a:solidFill>
                  <a:srgbClr val="F3F7FA"/>
                </a:solidFill>
              </a:defRPr>
            </a:pPr>
            <a:r>
              <a:t>自动拉取数据、运行实验、评估组合、形成交易建议。</a:t>
            </a:r>
          </a:p>
          <a:p>
            <a:pPr>
              <a:spcAft>
                <a:spcPts val="400"/>
              </a:spcAft>
              <a:defRPr sz="1200">
                <a:solidFill>
                  <a:srgbClr val="F3F7FA"/>
                </a:solidFill>
              </a:defRPr>
            </a:pPr>
            <a:r>
              <a:t>对失败结果做归因：数据问题、过拟合、交易成本、样本漂移。</a:t>
            </a:r>
          </a:p>
          <a:p>
            <a:pPr>
              <a:spcAft>
                <a:spcPts val="400"/>
              </a:spcAft>
              <a:defRPr sz="1200">
                <a:solidFill>
                  <a:srgbClr val="F3F7FA"/>
                </a:solidFill>
              </a:defRPr>
            </a:pPr>
            <a:r>
              <a:t>自动输出日报、周报、版本对比和风控提示。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83296" y="1325880"/>
            <a:ext cx="3566160" cy="4480560"/>
          </a:xfrm>
          <a:prstGeom prst="roundRect">
            <a:avLst/>
          </a:prstGeom>
          <a:solidFill>
            <a:srgbClr val="191F2D"/>
          </a:solidFill>
          <a:ln w="12700">
            <a:solidFill>
              <a:srgbClr val="2128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47888" y="1399032"/>
            <a:ext cx="3291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81D3F8"/>
                </a:solidFill>
              </a:rPr>
              <a:t>工程要求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84464" y="1664208"/>
            <a:ext cx="3127248" cy="3749039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F3F7FA"/>
                </a:solidFill>
              </a:defRPr>
            </a:pPr>
            <a:r>
              <a:t>结构化输入输出</a:t>
            </a:r>
          </a:p>
          <a:p>
            <a:pPr>
              <a:spcAft>
                <a:spcPts val="400"/>
              </a:spcAft>
              <a:defRPr sz="1200">
                <a:solidFill>
                  <a:srgbClr val="F3F7FA"/>
                </a:solidFill>
              </a:defRPr>
            </a:pPr>
            <a:r>
              <a:t>checkpoint / resume</a:t>
            </a:r>
          </a:p>
          <a:p>
            <a:pPr>
              <a:spcAft>
                <a:spcPts val="400"/>
              </a:spcAft>
              <a:defRPr sz="1200">
                <a:solidFill>
                  <a:srgbClr val="F3F7FA"/>
                </a:solidFill>
              </a:defRPr>
            </a:pPr>
            <a:r>
              <a:t>memory / knowledge base</a:t>
            </a:r>
          </a:p>
          <a:p>
            <a:pPr>
              <a:spcAft>
                <a:spcPts val="400"/>
              </a:spcAft>
              <a:defRPr sz="1200">
                <a:solidFill>
                  <a:srgbClr val="F3F7FA"/>
                </a:solidFill>
              </a:defRPr>
            </a:pPr>
            <a:r>
              <a:t>任务队列与并发控制</a:t>
            </a:r>
          </a:p>
          <a:p>
            <a:pPr>
              <a:spcAft>
                <a:spcPts val="400"/>
              </a:spcAft>
              <a:defRPr sz="1200">
                <a:solidFill>
                  <a:srgbClr val="F3F7FA"/>
                </a:solidFill>
              </a:defRPr>
            </a:pPr>
            <a:r>
              <a:t>人工批准节点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966960" y="6400800"/>
            <a:ext cx="14630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B0BCCC"/>
                </a:solidFill>
              </a:rPr>
              <a:t>16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893808" y="6336792"/>
            <a:ext cx="1645920" cy="292608"/>
          </a:xfrm>
          <a:prstGeom prst="rect">
            <a:avLst/>
          </a:prstGeom>
          <a:solidFill>
            <a:srgbClr val="0E12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966960" y="6400800"/>
            <a:ext cx="14630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B0BCCC"/>
                </a:solidFill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2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0881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3F7FA"/>
                </a:solidFill>
              </a:rPr>
              <a:t>建议的 Agent 角色设计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6868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>
                <a:solidFill>
                  <a:srgbClr val="B0BCCC"/>
                </a:solidFill>
              </a:rPr>
              <a:t>覆盖研究、组合、风控和执行审议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11480" y="1234440"/>
          <a:ext cx="11292840" cy="5257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17320"/>
                <a:gridCol w="4434840"/>
                <a:gridCol w="5440680"/>
              </a:tblGrid>
              <a:tr h="477981">
                <a:tc>
                  <a:txBody>
                    <a:bodyPr/>
                    <a:lstStyle/>
                    <a:p>
                      <a:r>
                        <a:rPr b="1" sz="960">
                          <a:solidFill>
                            <a:srgbClr val="F3F7FA"/>
                          </a:solidFill>
                        </a:rPr>
                        <a:t>角色</a:t>
                      </a:r>
                    </a:p>
                  </a:txBody>
                  <a:tcPr>
                    <a:solidFill>
                      <a:srgbClr val="2128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960">
                          <a:solidFill>
                            <a:srgbClr val="F3F7FA"/>
                          </a:solidFill>
                        </a:rPr>
                        <a:t>主要职责</a:t>
                      </a:r>
                    </a:p>
                  </a:txBody>
                  <a:tcPr>
                    <a:solidFill>
                      <a:srgbClr val="2128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960">
                          <a:solidFill>
                            <a:srgbClr val="F3F7FA"/>
                          </a:solidFill>
                        </a:rPr>
                        <a:t>调用模块 / 产物</a:t>
                      </a:r>
                    </a:p>
                  </a:txBody>
                  <a:tcPr>
                    <a:solidFill>
                      <a:srgbClr val="21283A"/>
                    </a:solidFill>
                  </a:tcPr>
                </a:tc>
              </a:tr>
              <a:tr h="477981">
                <a:tc>
                  <a:txBody>
                    <a:bodyPr/>
                    <a:lstStyle/>
                    <a:p>
                      <a:r>
                        <a:rPr sz="960">
                          <a:solidFill>
                            <a:srgbClr val="F3F7FA"/>
                          </a:solidFill>
                        </a:rPr>
                        <a:t>Planner</a:t>
                      </a:r>
                    </a:p>
                  </a:txBody>
                  <a:tcPr anchor="ctr">
                    <a:solidFill>
                      <a:srgbClr val="191F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60">
                          <a:solidFill>
                            <a:srgbClr val="B0BCCC"/>
                          </a:solidFill>
                        </a:rPr>
                        <a:t>拆解研究目标、安排实验序列、定义成功标准</a:t>
                      </a:r>
                    </a:p>
                  </a:txBody>
                  <a:tcPr anchor="ctr">
                    <a:solidFill>
                      <a:srgbClr val="191F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60">
                          <a:solidFill>
                            <a:srgbClr val="B0BCCC"/>
                          </a:solidFill>
                        </a:rPr>
                        <a:t>agent graph / run manifest</a:t>
                      </a:r>
                    </a:p>
                  </a:txBody>
                  <a:tcPr anchor="ctr">
                    <a:solidFill>
                      <a:srgbClr val="191F2D"/>
                    </a:solidFill>
                  </a:tcPr>
                </a:tc>
              </a:tr>
              <a:tr h="477981">
                <a:tc>
                  <a:txBody>
                    <a:bodyPr/>
                    <a:lstStyle/>
                    <a:p>
                      <a:r>
                        <a:rPr sz="960">
                          <a:solidFill>
                            <a:srgbClr val="F3F7FA"/>
                          </a:solidFill>
                        </a:rPr>
                        <a:t>Data Steward</a:t>
                      </a:r>
                    </a:p>
                  </a:txBody>
                  <a:tcPr anchor="ctr">
                    <a:solidFill>
                      <a:srgbClr val="191F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60">
                          <a:solidFill>
                            <a:srgbClr val="B0BCCC"/>
                          </a:solidFill>
                        </a:rPr>
                        <a:t>选择股票池、校验数据质量、补缓存、控制样本口径</a:t>
                      </a:r>
                    </a:p>
                  </a:txBody>
                  <a:tcPr anchor="ctr">
                    <a:solidFill>
                      <a:srgbClr val="191F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60">
                          <a:solidFill>
                            <a:srgbClr val="B0BCCC"/>
                          </a:solidFill>
                        </a:rPr>
                        <a:t>data_core / universe report</a:t>
                      </a:r>
                    </a:p>
                  </a:txBody>
                  <a:tcPr anchor="ctr">
                    <a:solidFill>
                      <a:srgbClr val="191F2D"/>
                    </a:solidFill>
                  </a:tcPr>
                </a:tc>
              </a:tr>
              <a:tr h="477981">
                <a:tc>
                  <a:txBody>
                    <a:bodyPr/>
                    <a:lstStyle/>
                    <a:p>
                      <a:r>
                        <a:rPr sz="960">
                          <a:solidFill>
                            <a:srgbClr val="F3F7FA"/>
                          </a:solidFill>
                        </a:rPr>
                        <a:t>Factor Proposer</a:t>
                      </a:r>
                    </a:p>
                  </a:txBody>
                  <a:tcPr anchor="ctr">
                    <a:solidFill>
                      <a:srgbClr val="191F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60">
                          <a:solidFill>
                            <a:srgbClr val="B0BCCC"/>
                          </a:solidFill>
                        </a:rPr>
                        <a:t>提出新因子、新组合逻辑、新筛选条件</a:t>
                      </a:r>
                    </a:p>
                  </a:txBody>
                  <a:tcPr anchor="ctr">
                    <a:solidFill>
                      <a:srgbClr val="191F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60">
                          <a:solidFill>
                            <a:srgbClr val="B0BCCC"/>
                          </a:solidFill>
                        </a:rPr>
                        <a:t>research_core / candidate specs</a:t>
                      </a:r>
                    </a:p>
                  </a:txBody>
                  <a:tcPr anchor="ctr">
                    <a:solidFill>
                      <a:srgbClr val="191F2D"/>
                    </a:solidFill>
                  </a:tcPr>
                </a:tc>
              </a:tr>
              <a:tr h="477981">
                <a:tc>
                  <a:txBody>
                    <a:bodyPr/>
                    <a:lstStyle/>
                    <a:p>
                      <a:r>
                        <a:rPr sz="960">
                          <a:solidFill>
                            <a:srgbClr val="F3F7FA"/>
                          </a:solidFill>
                        </a:rPr>
                        <a:t>Research Coder</a:t>
                      </a:r>
                    </a:p>
                  </a:txBody>
                  <a:tcPr anchor="ctr">
                    <a:solidFill>
                      <a:srgbClr val="191F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60">
                          <a:solidFill>
                            <a:srgbClr val="B0BCCC"/>
                          </a:solidFill>
                        </a:rPr>
                        <a:t>把假设转成可执行配置或代码模板</a:t>
                      </a:r>
                    </a:p>
                  </a:txBody>
                  <a:tcPr anchor="ctr">
                    <a:solidFill>
                      <a:srgbClr val="191F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60">
                          <a:solidFill>
                            <a:srgbClr val="B0BCCC"/>
                          </a:solidFill>
                        </a:rPr>
                        <a:t>research_core / model_lab / patch or config</a:t>
                      </a:r>
                    </a:p>
                  </a:txBody>
                  <a:tcPr anchor="ctr">
                    <a:solidFill>
                      <a:srgbClr val="191F2D"/>
                    </a:solidFill>
                  </a:tcPr>
                </a:tc>
              </a:tr>
              <a:tr h="477981">
                <a:tc>
                  <a:txBody>
                    <a:bodyPr/>
                    <a:lstStyle/>
                    <a:p>
                      <a:r>
                        <a:rPr sz="960">
                          <a:solidFill>
                            <a:srgbClr val="F3F7FA"/>
                          </a:solidFill>
                        </a:rPr>
                        <a:t>Backtest Runner</a:t>
                      </a:r>
                    </a:p>
                  </a:txBody>
                  <a:tcPr anchor="ctr">
                    <a:solidFill>
                      <a:srgbClr val="191F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60">
                          <a:solidFill>
                            <a:srgbClr val="B0BCCC"/>
                          </a:solidFill>
                        </a:rPr>
                        <a:t>批量执行实验、采集指标、保留 artifact</a:t>
                      </a:r>
                    </a:p>
                  </a:txBody>
                  <a:tcPr anchor="ctr">
                    <a:solidFill>
                      <a:srgbClr val="191F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60">
                          <a:solidFill>
                            <a:srgbClr val="B0BCCC"/>
                          </a:solidFill>
                        </a:rPr>
                        <a:t>portfolio_core / metrics bundle</a:t>
                      </a:r>
                    </a:p>
                  </a:txBody>
                  <a:tcPr anchor="ctr">
                    <a:solidFill>
                      <a:srgbClr val="191F2D"/>
                    </a:solidFill>
                  </a:tcPr>
                </a:tc>
              </a:tr>
              <a:tr h="477981">
                <a:tc>
                  <a:txBody>
                    <a:bodyPr/>
                    <a:lstStyle/>
                    <a:p>
                      <a:r>
                        <a:rPr sz="960">
                          <a:solidFill>
                            <a:srgbClr val="F3F7FA"/>
                          </a:solidFill>
                        </a:rPr>
                        <a:t>Reviewer</a:t>
                      </a:r>
                    </a:p>
                  </a:txBody>
                  <a:tcPr anchor="ctr">
                    <a:solidFill>
                      <a:srgbClr val="191F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60">
                          <a:solidFill>
                            <a:srgbClr val="B0BCCC"/>
                          </a:solidFill>
                        </a:rPr>
                        <a:t>检查稳健性、过拟合、泄露、成本敏感性</a:t>
                      </a:r>
                    </a:p>
                  </a:txBody>
                  <a:tcPr anchor="ctr">
                    <a:solidFill>
                      <a:srgbClr val="191F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60">
                          <a:solidFill>
                            <a:srgbClr val="B0BCCC"/>
                          </a:solidFill>
                        </a:rPr>
                        <a:t>evaluation report / veto</a:t>
                      </a:r>
                    </a:p>
                  </a:txBody>
                  <a:tcPr anchor="ctr">
                    <a:solidFill>
                      <a:srgbClr val="191F2D"/>
                    </a:solidFill>
                  </a:tcPr>
                </a:tc>
              </a:tr>
              <a:tr h="477981">
                <a:tc>
                  <a:txBody>
                    <a:bodyPr/>
                    <a:lstStyle/>
                    <a:p>
                      <a:r>
                        <a:rPr sz="960">
                          <a:solidFill>
                            <a:srgbClr val="F3F7FA"/>
                          </a:solidFill>
                        </a:rPr>
                        <a:t>Portfolio Agent</a:t>
                      </a:r>
                    </a:p>
                  </a:txBody>
                  <a:tcPr anchor="ctr">
                    <a:solidFill>
                      <a:srgbClr val="191F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60">
                          <a:solidFill>
                            <a:srgbClr val="B0BCCC"/>
                          </a:solidFill>
                        </a:rPr>
                        <a:t>把单票信号转成仓位、换仓、容量约束</a:t>
                      </a:r>
                    </a:p>
                  </a:txBody>
                  <a:tcPr anchor="ctr">
                    <a:solidFill>
                      <a:srgbClr val="191F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60">
                          <a:solidFill>
                            <a:srgbClr val="B0BCCC"/>
                          </a:solidFill>
                        </a:rPr>
                        <a:t>portfolio plan / target weights</a:t>
                      </a:r>
                    </a:p>
                  </a:txBody>
                  <a:tcPr anchor="ctr">
                    <a:solidFill>
                      <a:srgbClr val="191F2D"/>
                    </a:solidFill>
                  </a:tcPr>
                </a:tc>
              </a:tr>
              <a:tr h="477981">
                <a:tc>
                  <a:txBody>
                    <a:bodyPr/>
                    <a:lstStyle/>
                    <a:p>
                      <a:r>
                        <a:rPr sz="960">
                          <a:solidFill>
                            <a:srgbClr val="F3F7FA"/>
                          </a:solidFill>
                        </a:rPr>
                        <a:t>Risk Agent</a:t>
                      </a:r>
                    </a:p>
                  </a:txBody>
                  <a:tcPr anchor="ctr">
                    <a:solidFill>
                      <a:srgbClr val="191F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60">
                          <a:solidFill>
                            <a:srgbClr val="B0BCCC"/>
                          </a:solidFill>
                        </a:rPr>
                        <a:t>评估回撤、行业暴露、风格偏移和下单风险</a:t>
                      </a:r>
                    </a:p>
                  </a:txBody>
                  <a:tcPr anchor="ctr">
                    <a:solidFill>
                      <a:srgbClr val="191F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60">
                          <a:solidFill>
                            <a:srgbClr val="B0BCCC"/>
                          </a:solidFill>
                        </a:rPr>
                        <a:t>risk report / limits</a:t>
                      </a:r>
                    </a:p>
                  </a:txBody>
                  <a:tcPr anchor="ctr">
                    <a:solidFill>
                      <a:srgbClr val="191F2D"/>
                    </a:solidFill>
                  </a:tcPr>
                </a:tc>
              </a:tr>
              <a:tr h="477981">
                <a:tc>
                  <a:txBody>
                    <a:bodyPr/>
                    <a:lstStyle/>
                    <a:p>
                      <a:r>
                        <a:rPr sz="960">
                          <a:solidFill>
                            <a:srgbClr val="F3F7FA"/>
                          </a:solidFill>
                        </a:rPr>
                        <a:t>Execution Agent</a:t>
                      </a:r>
                    </a:p>
                  </a:txBody>
                  <a:tcPr anchor="ctr">
                    <a:solidFill>
                      <a:srgbClr val="191F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60">
                          <a:solidFill>
                            <a:srgbClr val="B0BCCC"/>
                          </a:solidFill>
                        </a:rPr>
                        <a:t>决定 paper/live、下单批次、是否需要算法执行</a:t>
                      </a:r>
                    </a:p>
                  </a:txBody>
                  <a:tcPr anchor="ctr">
                    <a:solidFill>
                      <a:srgbClr val="191F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60">
                          <a:solidFill>
                            <a:srgbClr val="B0BCCC"/>
                          </a:solidFill>
                        </a:rPr>
                        <a:t>order intent / execution plan</a:t>
                      </a:r>
                    </a:p>
                  </a:txBody>
                  <a:tcPr anchor="ctr">
                    <a:solidFill>
                      <a:srgbClr val="191F2D"/>
                    </a:solidFill>
                  </a:tcPr>
                </a:tc>
              </a:tr>
              <a:tr h="477990">
                <a:tc>
                  <a:txBody>
                    <a:bodyPr/>
                    <a:lstStyle/>
                    <a:p>
                      <a:r>
                        <a:rPr sz="960">
                          <a:solidFill>
                            <a:srgbClr val="F3F7FA"/>
                          </a:solidFill>
                        </a:rPr>
                        <a:t>PM Agent</a:t>
                      </a:r>
                    </a:p>
                  </a:txBody>
                  <a:tcPr anchor="ctr">
                    <a:solidFill>
                      <a:srgbClr val="191F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60">
                          <a:solidFill>
                            <a:srgbClr val="B0BCCC"/>
                          </a:solidFill>
                        </a:rPr>
                        <a:t>综合建议，决定保留、淘汰、上线观察</a:t>
                      </a:r>
                    </a:p>
                  </a:txBody>
                  <a:tcPr anchor="ctr">
                    <a:solidFill>
                      <a:srgbClr val="191F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60">
                          <a:solidFill>
                            <a:srgbClr val="B0BCCC"/>
                          </a:solidFill>
                        </a:rPr>
                        <a:t>final verdict / next action</a:t>
                      </a:r>
                    </a:p>
                  </a:txBody>
                  <a:tcPr anchor="ctr">
                    <a:solidFill>
                      <a:srgbClr val="191F2D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9966960" y="6400800"/>
            <a:ext cx="14630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B0BCCC"/>
                </a:solidFill>
              </a:rPr>
              <a:t>17</a:t>
            </a:r>
          </a:p>
        </p:txBody>
      </p:sp>
      <p:sp>
        <p:nvSpPr>
          <p:cNvPr id="6" name="Rectangle 5"/>
          <p:cNvSpPr/>
          <p:nvPr/>
        </p:nvSpPr>
        <p:spPr>
          <a:xfrm>
            <a:off x="9893808" y="6336792"/>
            <a:ext cx="1645920" cy="292608"/>
          </a:xfrm>
          <a:prstGeom prst="rect">
            <a:avLst/>
          </a:prstGeom>
          <a:solidFill>
            <a:srgbClr val="0E12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966960" y="6400800"/>
            <a:ext cx="14630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B0BCCC"/>
                </a:solidFill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2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0881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3F7FA"/>
                </a:solidFill>
              </a:rPr>
              <a:t>实施路线图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6868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>
                <a:solidFill>
                  <a:srgbClr val="B0BCCC"/>
                </a:solidFill>
              </a:rPr>
              <a:t>先补交易链骨架，再上 multi-agent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417320"/>
            <a:ext cx="3566160" cy="4297680"/>
          </a:xfrm>
          <a:prstGeom prst="roundRect">
            <a:avLst/>
          </a:prstGeom>
          <a:solidFill>
            <a:srgbClr val="191F2D"/>
          </a:solidFill>
          <a:ln w="12700">
            <a:solidFill>
              <a:srgbClr val="2128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13232" y="1490472"/>
            <a:ext cx="3291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81D3F8"/>
                </a:solidFill>
              </a:rPr>
              <a:t>阶段 1：研究链硬化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1737360"/>
            <a:ext cx="3154680" cy="365760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F3F7FA"/>
                </a:solidFill>
              </a:defRPr>
            </a:pPr>
            <a:r>
              <a:t>统一 data_core 与 A 股信息层</a:t>
            </a:r>
          </a:p>
          <a:p>
            <a:pPr>
              <a:spcAft>
                <a:spcPts val="400"/>
              </a:spcAft>
              <a:defRPr sz="1200">
                <a:solidFill>
                  <a:srgbClr val="F3F7FA"/>
                </a:solidFill>
              </a:defRPr>
            </a:pPr>
            <a:r>
              <a:t>统一 signal / portfolio / backtest 口径</a:t>
            </a:r>
          </a:p>
          <a:p>
            <a:pPr>
              <a:spcAft>
                <a:spcPts val="400"/>
              </a:spcAft>
              <a:defRPr sz="1200">
                <a:solidFill>
                  <a:srgbClr val="F3F7FA"/>
                </a:solidFill>
              </a:defRPr>
            </a:pPr>
            <a:r>
              <a:t>引入 experiment registry / run metadata</a:t>
            </a:r>
          </a:p>
          <a:p>
            <a:pPr>
              <a:spcAft>
                <a:spcPts val="400"/>
              </a:spcAft>
              <a:defRPr sz="1200">
                <a:solidFill>
                  <a:srgbClr val="F3F7FA"/>
                </a:solidFill>
              </a:defRPr>
            </a:pPr>
            <a:r>
              <a:t>把 dashboard 与 service 解耦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15968" y="1417320"/>
            <a:ext cx="3566160" cy="4297680"/>
          </a:xfrm>
          <a:prstGeom prst="roundRect">
            <a:avLst/>
          </a:prstGeom>
          <a:solidFill>
            <a:srgbClr val="191F2D"/>
          </a:solidFill>
          <a:ln w="12700">
            <a:solidFill>
              <a:srgbClr val="2128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560" y="1490472"/>
            <a:ext cx="3291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81D3F8"/>
                </a:solidFill>
              </a:rPr>
              <a:t>阶段 2：Agent 化决策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17136" y="1737360"/>
            <a:ext cx="3154680" cy="365760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F3F7FA"/>
                </a:solidFill>
              </a:defRPr>
            </a:pPr>
            <a:r>
              <a:t>planner / analyst / reviewer / PM graph</a:t>
            </a:r>
          </a:p>
          <a:p>
            <a:pPr>
              <a:spcAft>
                <a:spcPts val="400"/>
              </a:spcAft>
              <a:defRPr sz="1200">
                <a:solidFill>
                  <a:srgbClr val="F3F7FA"/>
                </a:solidFill>
              </a:defRPr>
            </a:pPr>
            <a:r>
              <a:t>研究计划、失败归因、知识库记忆</a:t>
            </a:r>
          </a:p>
          <a:p>
            <a:pPr>
              <a:spcAft>
                <a:spcPts val="400"/>
              </a:spcAft>
              <a:defRPr sz="1200">
                <a:solidFill>
                  <a:srgbClr val="F3F7FA"/>
                </a:solidFill>
              </a:defRPr>
            </a:pPr>
            <a:r>
              <a:t>自动报告与人工审批节点</a:t>
            </a:r>
          </a:p>
          <a:p>
            <a:pPr>
              <a:spcAft>
                <a:spcPts val="400"/>
              </a:spcAft>
              <a:defRPr sz="1200">
                <a:solidFill>
                  <a:srgbClr val="F3F7FA"/>
                </a:solidFill>
              </a:defRPr>
            </a:pPr>
            <a:r>
              <a:t>多模型、多数据源协同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83296" y="1417320"/>
            <a:ext cx="3566160" cy="4297680"/>
          </a:xfrm>
          <a:prstGeom prst="roundRect">
            <a:avLst/>
          </a:prstGeom>
          <a:solidFill>
            <a:srgbClr val="191F2D"/>
          </a:solidFill>
          <a:ln w="12700">
            <a:solidFill>
              <a:srgbClr val="2128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47888" y="1490472"/>
            <a:ext cx="3291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81D3F8"/>
                </a:solidFill>
              </a:rPr>
              <a:t>阶段 3：执行平台化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84464" y="1737360"/>
            <a:ext cx="3154680" cy="365760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F3F7FA"/>
                </a:solidFill>
              </a:defRPr>
            </a:pPr>
            <a:r>
              <a:t>paper/live bridge</a:t>
            </a:r>
          </a:p>
          <a:p>
            <a:pPr>
              <a:spcAft>
                <a:spcPts val="400"/>
              </a:spcAft>
              <a:defRPr sz="1200">
                <a:solidFill>
                  <a:srgbClr val="F3F7FA"/>
                </a:solidFill>
              </a:defRPr>
            </a:pPr>
            <a:r>
              <a:t>OMS / RMS / alerting / audit</a:t>
            </a:r>
          </a:p>
          <a:p>
            <a:pPr>
              <a:spcAft>
                <a:spcPts val="400"/>
              </a:spcAft>
              <a:defRPr sz="1200">
                <a:solidFill>
                  <a:srgbClr val="F3F7FA"/>
                </a:solidFill>
              </a:defRPr>
            </a:pPr>
            <a:r>
              <a:t>多策略编排与资源调度</a:t>
            </a:r>
          </a:p>
          <a:p>
            <a:pPr>
              <a:spcAft>
                <a:spcPts val="400"/>
              </a:spcAft>
              <a:defRPr sz="1200">
                <a:solidFill>
                  <a:srgbClr val="F3F7FA"/>
                </a:solidFill>
              </a:defRPr>
            </a:pPr>
            <a:r>
              <a:t>生产部署与监控体系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966960" y="6400800"/>
            <a:ext cx="14630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B0BCCC"/>
                </a:solidFill>
              </a:rPr>
              <a:t>18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893808" y="6336792"/>
            <a:ext cx="1645920" cy="292608"/>
          </a:xfrm>
          <a:prstGeom prst="rect">
            <a:avLst/>
          </a:prstGeom>
          <a:solidFill>
            <a:srgbClr val="0E12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966960" y="6400800"/>
            <a:ext cx="14630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B0BCCC"/>
                </a:solidFill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21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088136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600" b="1">
                <a:solidFill>
                  <a:srgbClr val="F3F7FA"/>
                </a:solidFill>
              </a:rPr>
              <a:t>结论与建议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86868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50">
                <a:solidFill>
                  <a:srgbClr val="B0BCCC"/>
                </a:solidFill>
              </a:rPr>
              <a:t>USalpha 值得继续做，但要从研究工作台走向完整交易链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463040"/>
            <a:ext cx="10972800" cy="4480560"/>
          </a:xfrm>
          <a:prstGeom prst="roundRect">
            <a:avLst/>
          </a:prstGeom>
          <a:solidFill>
            <a:srgbClr val="191F2D"/>
          </a:solidFill>
          <a:ln w="12700">
            <a:solidFill>
              <a:srgbClr val="2128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04672" y="1536192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81D3F8"/>
                </a:solidFill>
              </a:rPr>
              <a:t>最终判断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783080"/>
            <a:ext cx="10515600" cy="3840480"/>
          </a:xfrm>
          <a:prstGeom prst="rect">
            <a:avLst/>
          </a:prstGeom>
          <a:noFill/>
        </p:spPr>
        <p:txBody>
          <a:bodyPr wrap="square" lIns="25400" rIns="25400" tIns="25400" bIns="25400">
            <a:spAutoFit/>
          </a:bodyPr>
          <a:lstStyle/>
          <a:p>
            <a:pPr>
              <a:spcAft>
                <a:spcPts val="400"/>
              </a:spcAft>
              <a:defRPr sz="1300">
                <a:solidFill>
                  <a:srgbClr val="F3F7FA"/>
                </a:solidFill>
              </a:defRPr>
            </a:pPr>
            <a:r>
              <a:t>USalpha 现在已经是不错的研究原型，但它离完整交易系统还隔着组合、风控、OMS、执行、监控这几层。</a:t>
            </a:r>
          </a:p>
          <a:p>
            <a:pPr>
              <a:spcAft>
                <a:spcPts val="400"/>
              </a:spcAft>
              <a:defRPr sz="1300">
                <a:solidFill>
                  <a:srgbClr val="F3F7FA"/>
                </a:solidFill>
              </a:defRPr>
            </a:pPr>
            <a:r>
              <a:t>最危险的方向是继续把新流程堆进 dashboard；最正确的方向是按交易链分层拆模块。</a:t>
            </a:r>
          </a:p>
          <a:p>
            <a:pPr>
              <a:spcAft>
                <a:spcPts val="400"/>
              </a:spcAft>
              <a:defRPr sz="1300">
                <a:solidFill>
                  <a:srgbClr val="F3F7FA"/>
                </a:solidFill>
              </a:defRPr>
            </a:pPr>
            <a:r>
              <a:t>组合参考应当是：Qlib 的研究骨架、QuantaAlpha 的自动实验、TradingAgents 的多角色编排、AKQuant/vnpy 的执行与风控、a-stock-data 的 A 股信息层、Kronos 的高级时序模型。</a:t>
            </a:r>
          </a:p>
          <a:p>
            <a:pPr>
              <a:spcAft>
                <a:spcPts val="400"/>
              </a:spcAft>
              <a:defRPr sz="1300">
                <a:solidFill>
                  <a:srgbClr val="F3F7FA"/>
                </a:solidFill>
              </a:defRPr>
            </a:pPr>
            <a:r>
              <a:t>如果这条线做对，USalpha 的定位将从“能跑一轮回测”升级为“能持续研究、决策、审议并逐步接近可执行交易”的平台。 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966960" y="6400800"/>
            <a:ext cx="14630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B0BCCC"/>
                </a:solidFill>
              </a:rPr>
              <a:t>19</a:t>
            </a:r>
          </a:p>
        </p:txBody>
      </p:sp>
      <p:sp>
        <p:nvSpPr>
          <p:cNvPr id="8" name="Rectangle 7"/>
          <p:cNvSpPr/>
          <p:nvPr/>
        </p:nvSpPr>
        <p:spPr>
          <a:xfrm>
            <a:off x="9893808" y="6336792"/>
            <a:ext cx="1645920" cy="292608"/>
          </a:xfrm>
          <a:prstGeom prst="rect">
            <a:avLst/>
          </a:prstGeom>
          <a:solidFill>
            <a:srgbClr val="0E12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966960" y="6400800"/>
            <a:ext cx="146304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>
                <a:solidFill>
                  <a:srgbClr val="B0BCCC"/>
                </a:solidFill>
              </a:rPr>
              <a:t>21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