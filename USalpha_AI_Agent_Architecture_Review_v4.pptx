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64592" cy="2194560"/>
          </a:xfrm>
          <a:prstGeom prst="rect">
            <a:avLst/>
          </a:prstGeom>
          <a:solidFill>
            <a:srgbClr val="39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3F7FA"/>
                </a:solidFill>
              </a:rPr>
              <a:t>USalpha 架构复盘与
AI Agent 量化平台路线图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743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1D3F8"/>
                </a:solidFill>
              </a:rPr>
              <a:t>现状评估 | 参考平台对比 | 功能缺口 | 模块化设计建议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3832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CCC"/>
                </a:solidFill>
              </a:rPr>
              <a:t>对象：USalpha 当前版本（v1）
参考仓库：QuantaAlpha / alpha_mining / TradingAgents / akquant / a-stock-data / qlib / Kronos / vnpy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对当前 USalpha 的一句话判断与优先级建议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研究原型成熟度</a:t>
            </a:r>
          </a:p>
          <a:p>
            <a:r>
              <a:rPr sz="2200" b="1">
                <a:solidFill>
                  <a:srgbClr val="39B5FF"/>
                </a:solidFill>
              </a:rP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7004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模块化程度</a:t>
            </a:r>
          </a:p>
          <a:p>
            <a:r>
              <a:rPr sz="2200" b="1">
                <a:solidFill>
                  <a:srgbClr val="FFC457"/>
                </a:solidFill>
              </a:rPr>
              <a:t>B-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Agent 就绪度</a:t>
            </a:r>
          </a:p>
          <a:p>
            <a:r>
              <a:rPr sz="2200" b="1">
                <a:solidFill>
                  <a:srgbClr val="FF7878"/>
                </a:solidFill>
              </a:rPr>
              <a:t>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201168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307592"/>
            <a:ext cx="179222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实盘可用度</a:t>
            </a:r>
          </a:p>
          <a:p>
            <a:r>
              <a:rPr sz="2200" b="1">
                <a:solidFill>
                  <a:srgbClr val="FF7878"/>
                </a:solidFill>
              </a:rPr>
              <a:t>C-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5394960" cy="3474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45059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关键判断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5029200" cy="2926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USalpha 已经具备“数据→因子→模型→回测→可视化”的完整研究闭环。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它适合作为研究原型与产品雏形，但还不是成熟的平台型框架。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当前最强的是：自包含、迭代快、功能链路短、容易改。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当前最弱的是：数据层治理、回测引擎抽象、实验管理、Agent 编排与实盘桥接。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377440"/>
            <a:ext cx="5440680" cy="3474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45059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优先级建议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97480"/>
            <a:ext cx="5029200" cy="2926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短期：把 USalpha 从“能跑”变成“可持续研发”，先做数据层、缓存层、实验层治理。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中期：引入统一策略/回测抽象、模型注册、评估注册、Agent 调度接口。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长期：拆出 Agent Platform、Research Platform、Execution Platform 三层架构。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已完成工作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当前版本已经实现的功能面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040880"/>
                <a:gridCol w="2560320"/>
              </a:tblGrid>
              <a:tr h="6172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已完成内容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评价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行情拉取、NASDAQ 列表缓存、A 股缓存、fallback 机制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可用，但治理较浅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因子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内置 526 因子解析与计算，表达式 evaluator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自包含是优点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模型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轻量截面收益预测基线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适合快速实验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多空回测 + A 股页面化回测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功能闭环已形成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LLM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候选因子生成、打分、入库、结果留档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有明显产品雏形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可视化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股票查看、训练挖掘、回测页面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交互面已出现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工程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相对路径、统一入口、portable check、长任务稳定性修复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工程意识在增强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完整交易链应该长什么样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先建立统一坐标系，再看每个库覆盖了哪一段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54480"/>
            <a:ext cx="1403604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数据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行情/财务/新闻
PIT/缓存</a:t>
            </a:r>
          </a:p>
        </p:txBody>
      </p:sp>
      <p:sp>
        <p:nvSpPr>
          <p:cNvPr id="6" name="Chevron 5"/>
          <p:cNvSpPr/>
          <p:nvPr/>
        </p:nvSpPr>
        <p:spPr>
          <a:xfrm>
            <a:off x="1737360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8508" y="1554480"/>
            <a:ext cx="1403604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51660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研究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因子/特征
模型/规则</a:t>
            </a:r>
          </a:p>
        </p:txBody>
      </p:sp>
      <p:sp>
        <p:nvSpPr>
          <p:cNvPr id="9" name="Chevron 8"/>
          <p:cNvSpPr/>
          <p:nvPr/>
        </p:nvSpPr>
        <p:spPr>
          <a:xfrm>
            <a:off x="3195828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36976" y="1554480"/>
            <a:ext cx="1403604" cy="1234440"/>
          </a:xfrm>
          <a:prstGeom prst="roundRect">
            <a:avLst/>
          </a:prstGeom>
          <a:solidFill>
            <a:srgbClr val="24425F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信号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预期收益
排序/概率</a:t>
            </a:r>
          </a:p>
        </p:txBody>
      </p:sp>
      <p:sp>
        <p:nvSpPr>
          <p:cNvPr id="12" name="Chevron 11"/>
          <p:cNvSpPr/>
          <p:nvPr/>
        </p:nvSpPr>
        <p:spPr>
          <a:xfrm>
            <a:off x="46542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5444" y="1554480"/>
            <a:ext cx="1403604" cy="1234440"/>
          </a:xfrm>
          <a:prstGeom prst="roundRect">
            <a:avLst/>
          </a:prstGeom>
          <a:solidFill>
            <a:srgbClr val="24425F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8596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组合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仓位/约束
调仓计划</a:t>
            </a:r>
          </a:p>
        </p:txBody>
      </p:sp>
      <p:sp>
        <p:nvSpPr>
          <p:cNvPr id="15" name="Chevron 14"/>
          <p:cNvSpPr/>
          <p:nvPr/>
        </p:nvSpPr>
        <p:spPr>
          <a:xfrm>
            <a:off x="6112764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53912" y="1554480"/>
            <a:ext cx="1403604" cy="1234440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风控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限仓/暴露
审批/拦截</a:t>
            </a:r>
          </a:p>
        </p:txBody>
      </p:sp>
      <p:sp>
        <p:nvSpPr>
          <p:cNvPr id="18" name="Chevron 17"/>
          <p:cNvSpPr/>
          <p:nvPr/>
        </p:nvSpPr>
        <p:spPr>
          <a:xfrm>
            <a:off x="7571232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12380" y="1554480"/>
            <a:ext cx="1403604" cy="1234440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5532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执行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订单/撮合
算法交易/网关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9700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70848" y="1554480"/>
            <a:ext cx="1403604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监控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持仓/延迟
告警/审计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8168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29316" y="1554480"/>
            <a:ext cx="1403604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2468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复盘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绩效归因
记忆/再训练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3154680"/>
          <a:ext cx="11109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297680"/>
                <a:gridCol w="1097280"/>
                <a:gridCol w="4709160"/>
              </a:tblGrid>
              <a:tr h="304800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3F7FA"/>
                          </a:solidFill>
                        </a:rPr>
                        <a:t>环节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3F7FA"/>
                          </a:solidFill>
                        </a:rPr>
                        <a:t>作用原理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3F7FA"/>
                          </a:solidFill>
                        </a:rPr>
                        <a:t>USalpha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3F7FA"/>
                          </a:solidFill>
                        </a:rPr>
                        <a:t>优先参考库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保证研究与交易看到的是可用且可追溯的数据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部分有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a-stock-data / Qlib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研究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把市场信息转换成可验证的预测结构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USalpha / QuantaAlpha / alpha_mining / Kronos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信号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把模型输出标准化成可下游消费的分数或标签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Qlib / vnpy.alpha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组合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把单票判断变成资金分配与换仓决策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Qlib / vnpy / 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风控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在下单前和持仓中控制风险暴露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AKQuant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执行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把目标仓位转成真实订单与成交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AKQuant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监控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保证系统活着、状态一致、异常可见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很弱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AKQuant / vnpy / TradingAgents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复盘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把结果沉淀成知识，驱动下一轮优化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TradingAgents / Qlib / QuantaAlpha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当前完整流程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它目前完成的是“研究到候选交易”的流程，不是完整交易平台流程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737360"/>
            <a:ext cx="1550561" cy="141732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1 股票池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NASDAQ 列表
A股全市场/自选</a:t>
            </a:r>
          </a:p>
        </p:txBody>
      </p:sp>
      <p:sp>
        <p:nvSpPr>
          <p:cNvPr id="6" name="Chevron 5"/>
          <p:cNvSpPr/>
          <p:nvPr/>
        </p:nvSpPr>
        <p:spPr>
          <a:xfrm>
            <a:off x="1975757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35193" y="1737360"/>
            <a:ext cx="1550561" cy="141732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8345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2 行情准备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yfinance / akshare
本地缓存</a:t>
            </a:r>
          </a:p>
        </p:txBody>
      </p:sp>
      <p:sp>
        <p:nvSpPr>
          <p:cNvPr id="9" name="Chevron 8"/>
          <p:cNvSpPr/>
          <p:nvPr/>
        </p:nvSpPr>
        <p:spPr>
          <a:xfrm>
            <a:off x="3599470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8906" y="1737360"/>
            <a:ext cx="1550561" cy="141732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2058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3 特征构建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526 因子
表达式计算</a:t>
            </a:r>
          </a:p>
        </p:txBody>
      </p:sp>
      <p:sp>
        <p:nvSpPr>
          <p:cNvPr id="12" name="Chevron 11"/>
          <p:cNvSpPr/>
          <p:nvPr/>
        </p:nvSpPr>
        <p:spPr>
          <a:xfrm>
            <a:off x="5223183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82619" y="1737360"/>
            <a:ext cx="1550561" cy="141732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5771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4 预测打分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截面收益预测
pred score</a:t>
            </a:r>
          </a:p>
        </p:txBody>
      </p:sp>
      <p:sp>
        <p:nvSpPr>
          <p:cNvPr id="15" name="Chevron 14"/>
          <p:cNvSpPr/>
          <p:nvPr/>
        </p:nvSpPr>
        <p:spPr>
          <a:xfrm>
            <a:off x="6846896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6332" y="1737360"/>
            <a:ext cx="1550561" cy="141732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9484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5 组合回测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Top/Bottom 分组
long-short</a:t>
            </a:r>
          </a:p>
        </p:txBody>
      </p:sp>
      <p:sp>
        <p:nvSpPr>
          <p:cNvPr id="18" name="Chevron 17"/>
          <p:cNvSpPr/>
          <p:nvPr/>
        </p:nvSpPr>
        <p:spPr>
          <a:xfrm>
            <a:off x="8470609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30045" y="1737360"/>
            <a:ext cx="1550561" cy="1417320"/>
          </a:xfrm>
          <a:prstGeom prst="roundRect">
            <a:avLst/>
          </a:prstGeom>
          <a:solidFill>
            <a:srgbClr val="2D527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03197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6 候选输出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明日候选股
图表和持仓明细</a:t>
            </a:r>
          </a:p>
        </p:txBody>
      </p:sp>
      <p:sp>
        <p:nvSpPr>
          <p:cNvPr id="21" name="Chevron 20"/>
          <p:cNvSpPr/>
          <p:nvPr/>
        </p:nvSpPr>
        <p:spPr>
          <a:xfrm>
            <a:off x="10094322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53758" y="1737360"/>
            <a:ext cx="1550561" cy="1417320"/>
          </a:xfrm>
          <a:prstGeom prst="roundRect">
            <a:avLst/>
          </a:prstGeom>
          <a:solidFill>
            <a:srgbClr val="5A4226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6910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7 人工执行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页面查看后
手动交易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5394960" cy="2011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7307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我们已经有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977639"/>
            <a:ext cx="4983480" cy="1417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F3F7FA"/>
                </a:solidFill>
              </a:defRPr>
            </a:pPr>
            <a:r>
              <a:t>股票池基础入口、行情缓存、因子计算、模型训练、回测结果、候选列表、页面展示。</a:t>
            </a:r>
          </a:p>
          <a:p>
            <a:pPr>
              <a:spcAft>
                <a:spcPts val="400"/>
              </a:spcAft>
              <a:defRPr sz="1150">
                <a:solidFill>
                  <a:srgbClr val="F3F7FA"/>
                </a:solidFill>
              </a:defRPr>
            </a:pPr>
            <a:r>
              <a:t>LLM 因子演进是研究增强模块，不是交易主流程的核心执行层。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657600"/>
            <a:ext cx="5440680" cy="2011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73075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我们还没有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977639"/>
            <a:ext cx="4983480" cy="1417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F3F7FA"/>
                </a:solidFill>
              </a:defRPr>
            </a:pPr>
            <a:r>
              <a:t>组合构建规则、风控审批、订单管理、撮合/网关、成交回报、持仓同步、监控告警、复盘记忆。</a:t>
            </a:r>
          </a:p>
          <a:p>
            <a:pPr>
              <a:spcAft>
                <a:spcPts val="400"/>
              </a:spcAft>
              <a:defRPr sz="1150">
                <a:solidFill>
                  <a:srgbClr val="F3F7FA"/>
                </a:solidFill>
              </a:defRPr>
            </a:pPr>
            <a:r>
              <a:t>也就是说，USalpha 目前停在“研究结果 -&gt; 人工看盘”的位置。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在完整交易链上的覆盖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这一页回答：我们到底做到哪一步了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207008"/>
          <a:ext cx="114300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14400"/>
                <a:gridCol w="2834640"/>
                <a:gridCol w="3200400"/>
                <a:gridCol w="3063240"/>
              </a:tblGrid>
              <a:tr h="604520"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交易链阶段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当前状态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已有实现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主要缺失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优先参考库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股票池/研究目标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部分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页面/CLI 可选 universe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缺统一 universe registry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Qlib / vnpy.alpha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数据采集与治理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部分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US yfinance + A股缓存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 PIT / 质量层 / 公告新闻统一层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a-stock-data / Qlib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因子与特征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较强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526 因子 + LLM 候选因子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缺注册表与依赖图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QuantaAlpha / alpha_mining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模型与信号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中等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ridge baseline / 单因子评分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缺模型族 / WFO / online score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Qlib / vnpy.alpha / Kronos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组合构建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较弱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long-short 分桶 / 候选列表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缺权重约束、容量、换手控制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Qlib / 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风控与执行计划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 RMS、成本、订单算法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AKQuant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OMS/网关/实盘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 paper/live bridge 与 order lifecycle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vnpy / 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监控/复盘/记忆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较弱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artifacts / json / csv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缺决策日志、告警、状态恢复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TradingAgents / Qlib / 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QuantaAlpha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它解决的是“如何系统地产生和筛选 alpha”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研究方向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自然语言主题
如 Price-Volume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规划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diversified planning
拆多条方向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假设生成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Hypothesis
提出因子思想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代码实现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LLM coder
转表达式/代码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2A4C70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局部回测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validation set
快速筛选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2A4C70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演化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mutation/crossover
保留好轨迹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2A4C70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因子库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library json
沉淀结果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38664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独立回测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Qlib full backtest
样本外验证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548640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每一步的原理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566160"/>
            <a:ext cx="507492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先把模糊研究意图拆成多条方向，避免单一路径过早收敛。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每轮都要求 hypothesis -&gt; code -&gt; backtest -&gt; feedback 闭环，确保不是纯文本空想。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通过 mutation/crossover 保留有效轨迹，提升探索效率。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246120"/>
            <a:ext cx="534924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1927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对我们的价值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3566160"/>
            <a:ext cx="493776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适合补 USalpha 的研究自动化与实验协议层。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不负责真实订单、风控、网关，所以不能当完整交易平台。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alpha_mining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它是更轻量的 Qlib 研究闭环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Qlib 数据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DatasetH
训练/验证/测试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MyAlpha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200+ 因子
handler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训练模型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LGBModel
预测未来收益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信号记录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SignalRecord
保存预测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信号分析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SigAnaRecord
IC等统计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组合回测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TopkDropout
调仓回测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可视化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plot / backend
展示结果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LLM迭代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refine alpha
继续试验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548640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566160"/>
            <a:ext cx="507492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核心是标准 Qlib 路径：dataset -&gt; model -&gt; signal -&gt; strategy -&gt; portfolio analysis。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TopkDropout 的含义是按分数选 topK，并每期替换部分持仓，模拟现实换仓。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246120"/>
            <a:ext cx="534924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1927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对我们的价值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3566160"/>
            <a:ext cx="493776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适合借鉴其标准化 signal/record/backtest 结构。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比 QuantaAlpha 简洁，更像 USalpha 可以先走到的下一步。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Qlib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它覆盖了从研究到在线模拟交易的完整平台骨架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数据层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provider / PIT
calendar/features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信息提取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DataHandler
Dataset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预测模型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Model zoo
signal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24425F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决策生成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strategy
portfolio/orders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执行环境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exchange sim
cost/slippage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分析记录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Signal/Port
workflow records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在线生成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generate order list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在线执行更新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execute -&gt; update
账户演进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00400"/>
            <a:ext cx="10972800" cy="237744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73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47872"/>
            <a:ext cx="10469880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Qlib 把“预测”与“决策/执行”分开：模型只给分数，策略把分数转为组合和订单。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在线模块按 generate -&gt; execute -&gt; update 三步推进，保证账户状态、交易结果和下一日决策串起来。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支持多层 strategy/executor 嵌套，这是研究平台向执行平台过渡的关键能力。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TradingAgents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它把交易判断做成多角色组织流程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Analysts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technical/news
sentiment/fundamental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工具调用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market/news
fundamental tools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Bull/Bear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研究员辩论
多空观点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Research Manager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汇总成
投资计划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Trader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形成交易方案
时机与仓位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Risk Debate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激进/中性/保守
风控辩论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Portfolio Manager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最终批准
交易决策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Memory/Resume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decision log
checkpoint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548640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566160"/>
            <a:ext cx="507492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用 LangGraph 把角色和条件跳转写成状态机，而不是把 prompt 串成一条长链。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辩论的作用不是热闹，而是强制暴露相反证据，减少单模型单视角偏见。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246120"/>
            <a:ext cx="534924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1927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局限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3566160"/>
            <a:ext cx="493776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更像研究型决策组织，不是成熟的订单执行与 broker 平台。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最适合作为 USalpha 的 agent 编排层参考。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AKQuant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它最接近完整交易系统的工程链路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DataFeed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历史/实时
Bar/Tick流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EventEngine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统一事件总线
时间推进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Strategy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on_bar/on_tick
生成订单意图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RiskManager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预交易检查
限仓/T+1/资金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ExecutionClient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撮合/柜台
成交语义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Portfolio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持仓/现金
权益更新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Warm Start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checkpoint
重启恢复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Monitor/Live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日志/告警
主备/流式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00400"/>
            <a:ext cx="10972800" cy="237744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73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47872"/>
            <a:ext cx="10469880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Strategy 只决定想下什么单，RiskManager 在引擎层独立拦截，ExecutionClient 负责成交语义，Portfolio 负责状态更新。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这种拆法的价值是：研究逻辑、风控逻辑、成交逻辑、账户逻辑互不污染，才适合走向实盘。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Warm Start 和 live orchestration 解决的是‘系统不能死、死了能接着跑’的问题。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vn.py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它是最成熟的实盘平台型参考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Data/Gateway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行情接口
柜台接口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Event Engine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事件驱动
统一分发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App/Strategy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CTA/组合/脚本
交易应用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OMS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订单状态机
报撤单生命周期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RMS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风控规则
前端限制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Algo Trading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TWAP/Iceberg
智能拆单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Recorder/Manager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数据落库
组合统计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Web/RPC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分布式接入
运维界面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00400"/>
            <a:ext cx="10972800" cy="237744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73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47872"/>
            <a:ext cx="10469880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核心是‘平台先行’：先有 gateway、event、OMS、RMS、app，再让不同策略往里挂。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vnpy.alpha 则把研究端补上：dataset -&gt; model -&gt; signal -&gt; strategy backtest，与主交易平台衔接。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这类系统的优势是稳定、接口丰富、生产化强，但研发自由度比研究原型低。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a-stock-data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它不是交易引擎，而是 A 股研究信息层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行情层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K线/盘口
PE/PB/换手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研报层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研报列表/PDF
一致预期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信号层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热点/题材
北向/龙虎榜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新闻层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个股/快讯
全球资讯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基础层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F10/季报
公司资料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公告层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沪深北公告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研究拼装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单票调研
主题追踪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给上游消费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供 Agent/研究
生成解释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10972800" cy="22402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84448"/>
            <a:ext cx="10469880" cy="1691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它把分散、异构、反爬复杂的 A 股信息端点封装成统一调用层，解决‘研究没数据、Agent 没上下文’的问题。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对 USalpha 的价值不是回测，而是补齐解释性研究材料、题材/资金/公告等弱结构化信息。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Kronos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它提供的是时序基础模型，不是交易框架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K线数据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OHLCV
多市场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Tokenizer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连续值量化成
层级离散token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预训练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自回归 Transformer
学市场语言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预测器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future OHLCV
batch forecast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微调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用本地任务
继续训练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Qlib数据预处理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prepare train/val/test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回测示例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简单策略
验证效果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信号接入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供研究层消费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10972800" cy="22402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84448"/>
            <a:ext cx="10469880" cy="1691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先把连续 K 线序列 token 化，再用大模型学习时序结构，这样模型学到的是市场形态语言而不是传统手工特征。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对 USalpha 的意义是补一类新模型入口，可作为 model_lab 的高级时序模型选项。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博采众长后的目标流程图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把每个库最擅长的部分组合起来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数据底座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Qlib + a-stock-data
PIT/行情/题材/公告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研究生产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USalpha + QuantaAlpha
因子/特征/自动实验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高级模型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Kronos / ML zoo
时序与截面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信号标准化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Qlib/vnpy.alpha
score -&gt; signal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组合决策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Qlib/AKQuant
仓位与约束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Agent 审议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TradingAgents
多角色审查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风控执行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AKQuant + vnpy
RMS/OMS/gateway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监控复盘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TradingAgents memory
日志/归因/再训练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3154680"/>
          <a:ext cx="11109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1828800"/>
                <a:gridCol w="5440680"/>
              </a:tblGrid>
              <a:tr h="441960"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环节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最优参考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USalpha 当前状态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下一步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Qlib + a-stock-data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弱到中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先补 catalog / PIT / A股信息层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研究自动化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QuantaAlpha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中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补 experiment loop 与 factor library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TradingAgents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引入 graph / memory / reviewer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执行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AKQuant +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抽 backtest_core -&gt; OMS/RMS/gateway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复盘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Qlib + TradingAgents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统一 artifacts + decision memory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信号之后，交易是怎么完成的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真正难的是把 score 变成仓位、订单、成交和风险约束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554480"/>
            <a:ext cx="1423035" cy="1261872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1645920"/>
            <a:ext cx="12767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1 信号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pred / factor / rank
先得到相对强弱</a:t>
            </a:r>
          </a:p>
        </p:txBody>
      </p:sp>
      <p:sp>
        <p:nvSpPr>
          <p:cNvPr id="6" name="Chevron 5"/>
          <p:cNvSpPr/>
          <p:nvPr/>
        </p:nvSpPr>
        <p:spPr>
          <a:xfrm>
            <a:off x="1692783" y="2066544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24787" y="1554480"/>
            <a:ext cx="1423035" cy="1261872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7939" y="1645920"/>
            <a:ext cx="12767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2 选股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选 topK / 阈值
确定候选池</a:t>
            </a:r>
          </a:p>
        </p:txBody>
      </p:sp>
      <p:sp>
        <p:nvSpPr>
          <p:cNvPr id="9" name="Chevron 8"/>
          <p:cNvSpPr/>
          <p:nvPr/>
        </p:nvSpPr>
        <p:spPr>
          <a:xfrm>
            <a:off x="3161538" y="2066544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93542" y="1554480"/>
            <a:ext cx="1423035" cy="1261872"/>
          </a:xfrm>
          <a:prstGeom prst="roundRect">
            <a:avLst/>
          </a:prstGeom>
          <a:solidFill>
            <a:srgbClr val="24425F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6694" y="1645920"/>
            <a:ext cx="12767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3 仓位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等权/市值/优化
决定买多少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0293" y="2066544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2297" y="1554480"/>
            <a:ext cx="1423035" cy="1261872"/>
          </a:xfrm>
          <a:prstGeom prst="roundRect">
            <a:avLst/>
          </a:prstGeom>
          <a:solidFill>
            <a:srgbClr val="24425F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5449" y="1645920"/>
            <a:ext cx="12767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4 调仓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保留/卖出/替换
决定换多少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9048" y="2066544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31052" y="1554480"/>
            <a:ext cx="1423035" cy="1261872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4204" y="1645920"/>
            <a:ext cx="12767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5 下单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目标仓位 -&gt; 订单
数量/价格/时机</a:t>
            </a:r>
          </a:p>
        </p:txBody>
      </p:sp>
      <p:sp>
        <p:nvSpPr>
          <p:cNvPr id="18" name="Chevron 17"/>
          <p:cNvSpPr/>
          <p:nvPr/>
        </p:nvSpPr>
        <p:spPr>
          <a:xfrm>
            <a:off x="7567803" y="2066544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99807" y="1554480"/>
            <a:ext cx="1423035" cy="1261872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2959" y="1645920"/>
            <a:ext cx="12767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6 成交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撮合/滑点/涨跌停
不一定全成</a:t>
            </a:r>
          </a:p>
        </p:txBody>
      </p:sp>
      <p:sp>
        <p:nvSpPr>
          <p:cNvPr id="21" name="Chevron 20"/>
          <p:cNvSpPr/>
          <p:nvPr/>
        </p:nvSpPr>
        <p:spPr>
          <a:xfrm>
            <a:off x="9036558" y="2066544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68562" y="1554480"/>
            <a:ext cx="1423035" cy="1261872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1714" y="1645920"/>
            <a:ext cx="12767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7 风控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仓位/行业/回撤
前后都检查</a:t>
            </a:r>
          </a:p>
        </p:txBody>
      </p:sp>
      <p:sp>
        <p:nvSpPr>
          <p:cNvPr id="24" name="Chevron 23"/>
          <p:cNvSpPr/>
          <p:nvPr/>
        </p:nvSpPr>
        <p:spPr>
          <a:xfrm>
            <a:off x="10505313" y="2066544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37317" y="1554480"/>
            <a:ext cx="1423035" cy="1261872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10469" y="1645920"/>
            <a:ext cx="12767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8 复盘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收益/回撤/换手
归因后再优化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246120"/>
            <a:ext cx="10972800" cy="2331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31927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核心原则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584448"/>
            <a:ext cx="1046988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信号只回答“谁更好”，交易系统还要回答“买多少、什么时候买、买不买得进、出了风险怎么办”。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平均满仓买入只是最简单的仓位规则之一，真实平台通常会同时控制换手、行业暴露、单票权重、成交量占比和回撤。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所以交易描述至少要拆成四层：选股规则、仓位规则、调仓规则、风控规则。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现在到底怎么交易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当前主流程和 A 股页面回测其实是两套不同层级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207008"/>
          <a:ext cx="11429998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057400"/>
                <a:gridCol w="1874519"/>
                <a:gridCol w="1874519"/>
                <a:gridCol w="1965960"/>
                <a:gridCol w="2240280"/>
              </a:tblGrid>
              <a:tr h="1360170"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场景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选股方式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仓位方式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调仓方式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成交假设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风控现状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1360170"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F3F7FA"/>
                          </a:solidFill>
                        </a:rPr>
                        <a:t>主研究回测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按 pred 分数取 top/bottom quantile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不是实际持仓；直接算多组平均收益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每个交易日重算分组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没有真实订单/撮合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几乎没有，只统计收益与回撤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1360170"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F3F7FA"/>
                          </a:solidFill>
                        </a:rPr>
                        <a:t>A 股页面回测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按当日或前一日 score 取 topN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等权分配现金，100股整数手，接近满仓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先全部卖出，再平均买入新 topN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按 open/close 直接成交，默认全成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无涨跌停过滤、无行业约束、无单票上限、无成交量限制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1360170"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F3F7FA"/>
                          </a:solidFill>
                        </a:rPr>
                        <a:t>候选股输出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从 best factor 或模型信号选前几名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只输出名单，不算权重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人工看后决定是否换仓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没有模拟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完全依赖人工判断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的当前交易细节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你说的“平均满仓买入”主要对应 A 股页面回测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2044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9903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当前规则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310896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先把旧持仓全部卖掉。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对 topN 股票平均分现金预算。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每只股票按 100 股整数手向下取整。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买不完的钱留在现金里。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下一次调仓再重复一次。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这意味着什么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本质上是 long-only、等权、接近满仓。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没有保留核心仓位，也没有渐进换仓。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换手率可能很高，交易成本被低估。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如果 topN 都高相关，会集中暴露在同一板块。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它缺什么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单票权重上限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行业/风格暴露约束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最小持有期与 turnover 控制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涨跌停/停牌/成交量容量约束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止损、回撤线、熔断规则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Qlib 怎么交易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它把“选股”和“仓位”分成简单版和优化版两套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949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9903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TopkDropout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49834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F3F7FA"/>
                </a:solidFill>
              </a:defRPr>
            </a:pPr>
            <a:r>
              <a:t>先按 score 排名，持有 topK。</a:t>
            </a:r>
          </a:p>
          <a:p>
            <a:pPr>
              <a:spcAft>
                <a:spcPts val="400"/>
              </a:spcAft>
              <a:defRPr sz="1120">
                <a:solidFill>
                  <a:srgbClr val="F3F7FA"/>
                </a:solidFill>
              </a:defRPr>
            </a:pPr>
            <a:r>
              <a:t>每天优先卖掉持仓里排名最差的 n_drop 只，再买入未持仓里最好的替代者。</a:t>
            </a:r>
          </a:p>
          <a:p>
            <a:pPr>
              <a:spcAft>
                <a:spcPts val="400"/>
              </a:spcAft>
              <a:defRPr sz="1120">
                <a:solidFill>
                  <a:srgbClr val="F3F7FA"/>
                </a:solidFill>
              </a:defRPr>
            </a:pPr>
            <a:r>
              <a:t>风险资金比例 `risk_degree` 默认约 95%，所以不是 100% 满仓。</a:t>
            </a:r>
          </a:p>
          <a:p>
            <a:pPr>
              <a:spcAft>
                <a:spcPts val="400"/>
              </a:spcAft>
              <a:defRPr sz="1120">
                <a:solidFill>
                  <a:srgbClr val="F3F7FA"/>
                </a:solidFill>
              </a:defRPr>
            </a:pPr>
            <a:r>
              <a:t>买入资金按新买入股票数均分，天然限制单票权重约为 95%/K。</a:t>
            </a:r>
          </a:p>
          <a:p>
            <a:pPr>
              <a:spcAft>
                <a:spcPts val="400"/>
              </a:spcAft>
              <a:defRPr sz="1120">
                <a:solidFill>
                  <a:srgbClr val="F3F7FA"/>
                </a:solidFill>
              </a:defRPr>
            </a:pPr>
            <a:r>
              <a:t>可设置 `hold_thresh`、`only_tradable`、`forbid_all_trade_at_limit`。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25880"/>
            <a:ext cx="544068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9903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EnhancedIndexing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1645920"/>
            <a:ext cx="49834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F3F7FA"/>
                </a:solidFill>
              </a:defRPr>
            </a:pPr>
            <a:r>
              <a:t>不再等权，而是做组合优化。</a:t>
            </a:r>
          </a:p>
          <a:p>
            <a:pPr>
              <a:spcAft>
                <a:spcPts val="400"/>
              </a:spcAft>
              <a:defRPr sz="1120">
                <a:solidFill>
                  <a:srgbClr val="F3F7FA"/>
                </a:solidFill>
              </a:defRPr>
            </a:pPr>
            <a:r>
              <a:t>目标是在追踪误差受控前提下，提高主动收益。</a:t>
            </a:r>
          </a:p>
          <a:p>
            <a:pPr>
              <a:spcAft>
                <a:spcPts val="400"/>
              </a:spcAft>
              <a:defRPr sz="1120">
                <a:solidFill>
                  <a:srgbClr val="F3F7FA"/>
                </a:solidFill>
              </a:defRPr>
            </a:pPr>
            <a:r>
              <a:t>会用风险模型、协方差、行业暴露等信息求最优权重。</a:t>
            </a:r>
          </a:p>
          <a:p>
            <a:pPr>
              <a:spcAft>
                <a:spcPts val="400"/>
              </a:spcAft>
              <a:defRPr sz="1120">
                <a:solidFill>
                  <a:srgbClr val="F3F7FA"/>
                </a:solidFill>
              </a:defRPr>
            </a:pPr>
            <a:r>
              <a:t>这类策略更接近机构实盘，而不是简单 topK 轮换。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vn.py 和 AKQuant 怎么交易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它们更强调目标仓位、订单生命周期和风险边界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207008"/>
          <a:ext cx="114300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926080"/>
                <a:gridCol w="2011680"/>
                <a:gridCol w="2468880"/>
                <a:gridCol w="2743200"/>
              </a:tblGrid>
              <a:tr h="1813560">
                <a:tc>
                  <a:txBody>
                    <a:bodyPr/>
                    <a:lstStyle/>
                    <a:p>
                      <a:r>
                        <a:rPr b="1" sz="919">
                          <a:solidFill>
                            <a:srgbClr val="F3F7FA"/>
                          </a:solidFill>
                        </a:rPr>
                        <a:t>平台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9">
                          <a:solidFill>
                            <a:srgbClr val="F3F7FA"/>
                          </a:solidFill>
                        </a:rPr>
                        <a:t>常见仓位规则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9">
                          <a:solidFill>
                            <a:srgbClr val="F3F7FA"/>
                          </a:solidFill>
                        </a:rPr>
                        <a:t>调仓方式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9">
                          <a:solidFill>
                            <a:srgbClr val="F3F7FA"/>
                          </a:solidFill>
                        </a:rPr>
                        <a:t>订单层能力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9">
                          <a:solidFill>
                            <a:srgbClr val="F3F7FA"/>
                          </a:solidFill>
                        </a:rPr>
                        <a:t>风控能力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181356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F3F7FA"/>
                          </a:solidFill>
                        </a:rPr>
                        <a:t>vnpy.alpha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B0BCCC"/>
                          </a:solidFill>
                        </a:rPr>
                        <a:t>示例策略是 topK + n_drop + cash_ratio 95% + 最小持有期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B0BCCC"/>
                          </a:solidFill>
                        </a:rPr>
                        <a:t>先定 target，再执行 execute_trading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B0BCCC"/>
                          </a:solidFill>
                        </a:rPr>
                        <a:t>有买卖、撤单、价格偏移、成交回报、逐日盯市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B0BCCC"/>
                          </a:solidFill>
                        </a:rPr>
                        <a:t>手续费、最小佣金、最小持有期，易扩展到更强交易平台层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1813560"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F3F7FA"/>
                          </a:solidFill>
                        </a:rPr>
                        <a:t>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B0BCCC"/>
                          </a:solidFill>
                        </a:rPr>
                        <a:t>可用 order_target_percent / order_target_weights / order_target_positions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B0BCCC"/>
                          </a:solidFill>
                        </a:rPr>
                        <a:t>按目标权重或目标仓位调仓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B0BCCC"/>
                          </a:solidFill>
                        </a:rPr>
                        <a:t>事件驱动、限价、滑点、成交量限制、warm start、live bridge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B0BCCC"/>
                          </a:solidFill>
                        </a:rPr>
                        <a:t>max_position_pct、max_order_value、sector_concentration、max_drawdown、stop_loss_threshold、restricted_list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常见交易策略与风险控制模式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这页回答：别的库通常怎么做，而不是只做平均满仓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207008"/>
          <a:ext cx="11429999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743200"/>
                <a:gridCol w="1874519"/>
                <a:gridCol w="2240280"/>
                <a:gridCol w="3154680"/>
              </a:tblGrid>
              <a:tr h="777240"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类别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典型规则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优点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主要风险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10">
                          <a:solidFill>
                            <a:srgbClr val="F3F7FA"/>
                          </a:solidFill>
                        </a:rPr>
                        <a:t>适合参考库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F3F7FA"/>
                          </a:solidFill>
                        </a:rPr>
                        <a:t>等权 topK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每只股票同样资金，接近满仓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简单稳健、解释性强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高换手、行业集中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USalpha 当前 / Qlib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F3F7FA"/>
                          </a:solidFill>
                        </a:rPr>
                        <a:t>TopK+Dropout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持有 topK，每次只换出 n_drop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控制换手，不必全换仓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依然缺显式风险模型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Qlib / alpha_mining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F3F7FA"/>
                          </a:solidFill>
                        </a:rPr>
                        <a:t>目标权重调仓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直接给每只股票 2%、3% 之类权重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容易加单票上限和现金比例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权重设计要合理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AKQuant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F3F7FA"/>
                          </a:solidFill>
                        </a:rPr>
                        <a:t>优化组合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收益最大化 + 风险暴露约束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更接近机构组合管理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对风险模型质量要求高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Qlib EnhancedIndexing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F3F7FA"/>
                          </a:solidFill>
                        </a:rPr>
                        <a:t>多空中性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多头和空头同时持有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削弱市场 beta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真实执行更复杂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USalpha 主回测 / Qlib / 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F3F7FA"/>
                          </a:solidFill>
                        </a:rPr>
                        <a:t>事件驱动执行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按回报、滑点、成交量逐笔推进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更接近真实市场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开发复杂度高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>
                          <a:solidFill>
                            <a:srgbClr val="B0BCCC"/>
                          </a:solidFill>
                        </a:rPr>
                        <a:t>AKQuant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的交易升级建议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先把平均满仓买入升级成可控的交易规则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第一步：从全换仓到渐进换仓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引入 topK + n_drop。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不是每天全卖全买，而是只替换尾部几只。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保留最强持仓，显著降低 turnover。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第二步：从等权到约束权重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增加 cash_ratio，例如 90% 或 95%。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设置单票上限，例如 5% 或 10%。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限制行业暴露、风格暴露和最小持有期。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第三步：真实风控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涨跌停/停牌过滤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成交量参与率限制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最大回撤暂停交易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单日亏损限额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订单与持仓审计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模块化评价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核心模块已经分开，但平台级抽象还不够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657600"/>
                <a:gridCol w="1143000"/>
                <a:gridCol w="4754880"/>
              </a:tblGrid>
              <a:tr h="64008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现状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评价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建议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数据层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US/CN 逻辑并存，采集/缓存/fallback 混在同层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中等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拆成 source / cache / catalog / quality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因子层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表达式与计算主干清楚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较好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补注册表、元数据、依赖关系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模型层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基线模型独立，但模型族很薄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中等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做 model registry 与训练接口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回测层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主流程回测与页面回测口径不统一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统一 backtest engine / execution semantics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页面层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能力丰富，但单文件偏重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 page / service / state / adapter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实验层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结果有 artifacts，但缺 experiment registry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补 run metadata、comparison、repro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Agent 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只有 LLM factor round 雏形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较弱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 planner / proposer / evaluator / reviewer / operator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建议的模块化切分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按完整交易链拆，而不是按页面功能拆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014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114800"/>
                <a:gridCol w="5577840"/>
              </a:tblGrid>
              <a:tr h="58928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职责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与当前 USalpha 的关系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data_core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多数据源、缓存、PIT、公告/新闻/题材、元数据 catalog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从 data.py 与 CN/A股缓存逻辑外扩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research_core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因子表达、特征工程、候选库、研究配置、实验协议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整合 factors.py / factor_evolution.py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model_lab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训练、预测、滚动训练、模型注册、信号标准化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扩展当前 model.py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portfolio_core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仓位、约束、换手、容量、组合回测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从当前 long-short 回测上移一层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execution_core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RMS、OMS、撮合、paper/live gateway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当前基本缺失，需要新建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agent_lab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planner / reviewer / PM / memory / checkpoint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把单轮 LLM 工具升级为图编排层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ops_runtime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artifact、日志、监控、告警、恢复、审计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把零散输出提升为运维层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ui_app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dashboard、CLI、报告、API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把 factor_dashboard.py 拆成多个入口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如何增加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Agent 不是页面助手，而是交易链中的协作层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65760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990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放在哪里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3218688" cy="374903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新增 `agent_lab` 作为独立层。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由 graph/state machine 驱动，而不是由 Streamlit 页面直接串函数。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Agent 只调用标准化 service：data_core / research_core / model_lab / portfolio_core / execution_core。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每次 run 产出 plan、signal review、portfolio verdict、memory。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65760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990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它能实现什么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1664208"/>
            <a:ext cx="3218688" cy="374903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自动提出候选因子与策略假设。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自动拉取数据、运行实验、评估组合、形成交易建议。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对失败结果做归因：数据问题、过拟合、交易成本、样本漂移。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自动输出日报、周报、版本对比和风控提示。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工程要求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664208"/>
            <a:ext cx="3127248" cy="374903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结构化输入输出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checkpoint / resume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memory / knowledge base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任务队列与并发控制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人工批准节点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建议的 Agent 角色设计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覆盖研究、组合、风控和执行审议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928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434840"/>
                <a:gridCol w="5440680"/>
              </a:tblGrid>
              <a:tr h="477981">
                <a:tc>
                  <a:txBody>
                    <a:bodyPr/>
                    <a:lstStyle/>
                    <a:p>
                      <a:r>
                        <a:rPr b="1" sz="960">
                          <a:solidFill>
                            <a:srgbClr val="F3F7FA"/>
                          </a:solidFill>
                        </a:rPr>
                        <a:t>角色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60">
                          <a:solidFill>
                            <a:srgbClr val="F3F7FA"/>
                          </a:solidFill>
                        </a:rPr>
                        <a:t>主要职责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60">
                          <a:solidFill>
                            <a:srgbClr val="F3F7FA"/>
                          </a:solidFill>
                        </a:rPr>
                        <a:t>调用模块 / 产物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Planner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拆解研究目标、安排实验序列、定义成功标准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agent graph / run manifest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Data Steward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选择股票池、校验数据质量、补缓存、控制样本口径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data_core / universe report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Factor Proposer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提出新因子、新组合逻辑、新筛选条件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research_core / candidate specs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Research Coder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把假设转成可执行配置或代码模板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research_core / model_lab / patch or config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Backtest Runner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批量执行实验、采集指标、保留 artifact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portfolio_core / metrics bundle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Reviewer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检查稳健性、过拟合、泄露、成本敏感性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evaluation report / veto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Portfolio 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把单票信号转成仓位、换仓、容量约束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portfolio plan / target weights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Risk 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评估回撤、行业暴露、风格偏移和下单风险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risk report / limits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Execution 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决定 paper/live、下单批次、是否需要算法执行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order intent / execution plan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9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PM 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综合建议，决定保留、淘汰、上线观察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final verdict / next action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实施路线图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先补交易链骨架，再上 multi-agent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1：研究链硬化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 data_core 与 A 股信息层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 signal / portfolio / backtest 口径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引入 experiment registry / run metadata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把 dashboard 与 service 解耦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2：Agent 化决策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planner / analyst / reviewer / PM graph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研究计划、失败归因、知识库记忆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自动报告与人工审批节点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多模型、多数据源协同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3：执行平台化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paper/live bridge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OMS / RMS / alerting / audit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多策略编排与资源调度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生产部署与监控体系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下一阶段的重点，不是更会找信号，而是更会把信号交易出去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7280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3619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最终判断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USalpha 当前最真实的交易规则是：A 股页面回测里，按 topN 等权、接近满仓、100股整数手、全卖全买；这能跑，但太粗。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Qlib 给出的是 `topK + n_drop + risk_degree` 的简洁组合规则，vnpy 和 AKQuant 则进一步把目标仓位、订单状态、撮合、风控和回撤控制补全。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因此下一阶段最值得做的不是继续提升单个因子，而是把交易规则升级成：渐进换仓、现金比例、单票上限、行业约束、成交量限制、回撤熔断。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只有交易层补上，USalpha 才会从‘研究工作台’走向‘可执行的量化平台’。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